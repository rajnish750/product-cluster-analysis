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6"/>
  </p:notesMasterIdLst>
  <p:sldIdLst>
    <p:sldId id="256" r:id="rId2"/>
    <p:sldId id="257" r:id="rId3"/>
    <p:sldId id="259" r:id="rId4"/>
    <p:sldId id="260" r:id="rId5"/>
    <p:sldId id="310" r:id="rId6"/>
    <p:sldId id="308" r:id="rId7"/>
    <p:sldId id="312" r:id="rId8"/>
    <p:sldId id="313" r:id="rId9"/>
    <p:sldId id="314" r:id="rId10"/>
    <p:sldId id="315" r:id="rId11"/>
    <p:sldId id="316" r:id="rId12"/>
    <p:sldId id="317" r:id="rId13"/>
    <p:sldId id="318" r:id="rId14"/>
    <p:sldId id="320" r:id="rId15"/>
    <p:sldId id="321" r:id="rId16"/>
    <p:sldId id="322" r:id="rId17"/>
    <p:sldId id="323" r:id="rId18"/>
    <p:sldId id="324" r:id="rId19"/>
    <p:sldId id="325" r:id="rId20"/>
    <p:sldId id="326" r:id="rId21"/>
    <p:sldId id="327" r:id="rId22"/>
    <p:sldId id="328" r:id="rId23"/>
    <p:sldId id="329" r:id="rId24"/>
    <p:sldId id="330" r:id="rId25"/>
  </p:sldIdLst>
  <p:sldSz cx="9144000" cy="5143500" type="screen16x9"/>
  <p:notesSz cx="6858000" cy="9144000"/>
  <p:embeddedFontLst>
    <p:embeddedFont>
      <p:font typeface="Playfair Display Medium" panose="020B0604020202020204" charset="0"/>
      <p:regular r:id="rId27"/>
      <p:bold r:id="rId28"/>
      <p:italic r:id="rId29"/>
      <p:boldItalic r:id="rId30"/>
    </p:embeddedFont>
    <p:embeddedFont>
      <p:font typeface="Playfair Display SemiBold" panose="020B0604020202020204" charset="0"/>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Roboto Medium"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5C3803-7813-4AF5-84CA-65CB132B4D3E}" v="156" dt="2025-07-17T21:44:23.133"/>
  </p1510:revLst>
</p1510:revInfo>
</file>

<file path=ppt/tableStyles.xml><?xml version="1.0" encoding="utf-8"?>
<a:tblStyleLst xmlns:a="http://schemas.openxmlformats.org/drawingml/2006/main" def="{EBFE4A5A-FA2D-48B8-BC70-585E69FCA041}">
  <a:tblStyle styleId="{EBFE4A5A-FA2D-48B8-BC70-585E69FCA0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89"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8d93afd8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8d93afd8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0c9bbfca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0c9bbfca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10c9bbfca6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0c9bbfca6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0c9bbfca6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BFAE6A37-5AEB-0D59-B6FA-101C09CE5EF0}"/>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3EBB66B2-CFD2-4812-A3A4-AB7E22D8EF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619EB7BF-00BA-7542-E258-FD5DEDA5DB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5252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53B815BC-6651-1206-F01F-3D9C542FA7DF}"/>
            </a:ext>
          </a:extLst>
        </p:cNvPr>
        <p:cNvGrpSpPr/>
        <p:nvPr/>
      </p:nvGrpSpPr>
      <p:grpSpPr>
        <a:xfrm>
          <a:off x="0" y="0"/>
          <a:ext cx="0" cy="0"/>
          <a:chOff x="0" y="0"/>
          <a:chExt cx="0" cy="0"/>
        </a:xfrm>
      </p:grpSpPr>
      <p:sp>
        <p:nvSpPr>
          <p:cNvPr id="241" name="Google Shape;241;g10c9bbfca61_0_31:notes">
            <a:extLst>
              <a:ext uri="{FF2B5EF4-FFF2-40B4-BE49-F238E27FC236}">
                <a16:creationId xmlns:a16="http://schemas.microsoft.com/office/drawing/2014/main" id="{4034E3C6-2DE9-B304-A9D0-D2721C9F8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0c9bbfca61_0_31:notes">
            <a:extLst>
              <a:ext uri="{FF2B5EF4-FFF2-40B4-BE49-F238E27FC236}">
                <a16:creationId xmlns:a16="http://schemas.microsoft.com/office/drawing/2014/main" id="{C8872093-91FE-A695-A594-09D30C0F2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7412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ED24B7AD-E94B-5B0B-BF65-9850C48CB3F7}"/>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F2A85BE3-06F6-B009-5CD2-8C3162087D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CD25DCCA-CE24-F741-D1C1-B9A4D7A7C0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1457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9B08D73E-3AF2-5358-2D41-D4E5AE1F229A}"/>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DEB63AD6-7E85-0103-B391-82A61EC56E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C37E0E06-B6D4-5C2E-0B94-C7713A5F1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1276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1F4E7EDA-4916-6345-94CE-522999BFE978}"/>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BDA72F11-B0DE-0BA5-CD5F-2FECE320A2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E619366A-9E8F-1086-7861-0A796F517E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401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600DF9C9-E492-FFF6-B561-B09269FE5F49}"/>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14A63F30-9035-B055-49F9-B05DF1DAFA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067DAB09-6190-5DC5-E97E-3631E30EED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2735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5DD755DE-56D1-BE7A-6466-D103F1062A57}"/>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C4952346-E62A-44B4-49CE-A5F04C59BC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D8FCA396-E425-898C-0B3A-A01F890B6F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2327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82170718-0A5A-90B6-9994-DAAFF668B44A}"/>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453F5FC7-B90B-0C7A-0FC6-D3AD171BE3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04825546-B532-7B88-05EE-409D5081E9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8820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EEB20329-DA9A-2E27-8F78-692F98473EE3}"/>
            </a:ext>
          </a:extLst>
        </p:cNvPr>
        <p:cNvGrpSpPr/>
        <p:nvPr/>
      </p:nvGrpSpPr>
      <p:grpSpPr>
        <a:xfrm>
          <a:off x="0" y="0"/>
          <a:ext cx="0" cy="0"/>
          <a:chOff x="0" y="0"/>
          <a:chExt cx="0" cy="0"/>
        </a:xfrm>
      </p:grpSpPr>
      <p:sp>
        <p:nvSpPr>
          <p:cNvPr id="241" name="Google Shape;241;g10c9bbfca61_0_31:notes">
            <a:extLst>
              <a:ext uri="{FF2B5EF4-FFF2-40B4-BE49-F238E27FC236}">
                <a16:creationId xmlns:a16="http://schemas.microsoft.com/office/drawing/2014/main" id="{0DC8B09A-472A-6C49-BF6B-E053AB3F7F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0c9bbfca61_0_31:notes">
            <a:extLst>
              <a:ext uri="{FF2B5EF4-FFF2-40B4-BE49-F238E27FC236}">
                <a16:creationId xmlns:a16="http://schemas.microsoft.com/office/drawing/2014/main" id="{5258FA70-654F-3D22-4E40-BE4F477233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0065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8FB7FF1B-951C-C291-0F0F-541BE1418B8E}"/>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E3CA98EF-C11C-DCC1-AA8F-97A5C338F0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8E1F54C4-F194-CE1F-A488-F2CDBC16B2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6094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DF37C92E-06CA-7563-13F5-90FAF407ACED}"/>
            </a:ext>
          </a:extLst>
        </p:cNvPr>
        <p:cNvGrpSpPr/>
        <p:nvPr/>
      </p:nvGrpSpPr>
      <p:grpSpPr>
        <a:xfrm>
          <a:off x="0" y="0"/>
          <a:ext cx="0" cy="0"/>
          <a:chOff x="0" y="0"/>
          <a:chExt cx="0" cy="0"/>
        </a:xfrm>
      </p:grpSpPr>
      <p:sp>
        <p:nvSpPr>
          <p:cNvPr id="241" name="Google Shape;241;g10c9bbfca61_0_31:notes">
            <a:extLst>
              <a:ext uri="{FF2B5EF4-FFF2-40B4-BE49-F238E27FC236}">
                <a16:creationId xmlns:a16="http://schemas.microsoft.com/office/drawing/2014/main" id="{B456B4FB-B96D-2BCC-BD88-F82F011E59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0c9bbfca61_0_31:notes">
            <a:extLst>
              <a:ext uri="{FF2B5EF4-FFF2-40B4-BE49-F238E27FC236}">
                <a16:creationId xmlns:a16="http://schemas.microsoft.com/office/drawing/2014/main" id="{E56BA06E-85D5-63FF-3723-FF09596B07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137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D564966C-BC8A-9A57-49D3-743BD370535F}"/>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0F9140AF-D022-6D04-D9FE-28651D93DC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B4D802FB-4D70-7B95-8159-7790735BEE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1071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10A96F14-844C-7651-303B-EC482DEEFF46}"/>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9972ACFC-3E21-0C04-F517-4E22BFBFE6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E7E1F6B2-1C52-203B-60C3-D1FC9ADAB4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3652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1A49217C-BF13-8BC7-9882-2603CD94D931}"/>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6C979E5E-2AAD-5BD0-B3C2-B2FCDC28B2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C575BB2F-BBC1-F130-3006-0B6AB881D8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1898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8A4A58C1-337F-2A1D-A8CD-DDBF6CCF16E4}"/>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E60F035B-D1E3-1881-4ADB-DAB2B41451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8E332162-B444-8EB9-C065-6924648509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216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F2D5992B-0004-7835-145C-2555F6E51C13}"/>
            </a:ext>
          </a:extLst>
        </p:cNvPr>
        <p:cNvGrpSpPr/>
        <p:nvPr/>
      </p:nvGrpSpPr>
      <p:grpSpPr>
        <a:xfrm>
          <a:off x="0" y="0"/>
          <a:ext cx="0" cy="0"/>
          <a:chOff x="0" y="0"/>
          <a:chExt cx="0" cy="0"/>
        </a:xfrm>
      </p:grpSpPr>
      <p:sp>
        <p:nvSpPr>
          <p:cNvPr id="241" name="Google Shape;241;g10c9bbfca61_0_31:notes">
            <a:extLst>
              <a:ext uri="{FF2B5EF4-FFF2-40B4-BE49-F238E27FC236}">
                <a16:creationId xmlns:a16="http://schemas.microsoft.com/office/drawing/2014/main" id="{B9CD6CB7-3EB1-7442-CC7A-23CC9FF819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0c9bbfca61_0_31:notes">
            <a:extLst>
              <a:ext uri="{FF2B5EF4-FFF2-40B4-BE49-F238E27FC236}">
                <a16:creationId xmlns:a16="http://schemas.microsoft.com/office/drawing/2014/main" id="{D3C5997C-FFCB-46C8-F4EB-F04A8AA16E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8163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295F93D2-4DB1-6877-5E4E-349B4CB671A3}"/>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8B7C8B72-717D-B6BC-5C30-344B2466DF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3839CCAC-56F8-545D-0FAC-80284B2E39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4432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3498F94A-BAC2-3137-919C-341FAB0646FB}"/>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223C6B23-706F-484B-5228-A8302A5F1B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F30E0B24-100D-63A0-A071-A7613E7D77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494171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6C2431A1-2EC8-4522-DDF8-FF1A2CA33613}"/>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B38CCF0A-BD23-1479-D6E3-329266AF41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0333ABDD-AAFB-6316-A20E-A960E483B9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41107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9B00F4CC-F3D1-4C62-5F99-67EA087C3687}"/>
            </a:ext>
          </a:extLst>
        </p:cNvPr>
        <p:cNvGrpSpPr/>
        <p:nvPr/>
      </p:nvGrpSpPr>
      <p:grpSpPr>
        <a:xfrm>
          <a:off x="0" y="0"/>
          <a:ext cx="0" cy="0"/>
          <a:chOff x="0" y="0"/>
          <a:chExt cx="0" cy="0"/>
        </a:xfrm>
      </p:grpSpPr>
      <p:sp>
        <p:nvSpPr>
          <p:cNvPr id="251" name="Google Shape;251;g10c9bbfca61_0_53:notes">
            <a:extLst>
              <a:ext uri="{FF2B5EF4-FFF2-40B4-BE49-F238E27FC236}">
                <a16:creationId xmlns:a16="http://schemas.microsoft.com/office/drawing/2014/main" id="{A0694A15-B744-D941-D0AB-E421E796A6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0c9bbfca61_0_53:notes">
            <a:extLst>
              <a:ext uri="{FF2B5EF4-FFF2-40B4-BE49-F238E27FC236}">
                <a16:creationId xmlns:a16="http://schemas.microsoft.com/office/drawing/2014/main" id="{0EC5C21B-FC0A-1351-98C6-6846F60B5E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6545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108900" y="1266110"/>
            <a:ext cx="4320000" cy="2457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2"/>
              </a:buClr>
              <a:buSzPts val="5200"/>
              <a:buNone/>
              <a:defRPr sz="5000">
                <a:solidFill>
                  <a:schemeClr val="dk2"/>
                </a:solidFill>
                <a:latin typeface="Playfair Display SemiBold"/>
                <a:ea typeface="Playfair Display SemiBold"/>
                <a:cs typeface="Playfair Display SemiBold"/>
                <a:sym typeface="Playfair Display SemiBold"/>
              </a:defRPr>
            </a:lvl1pPr>
            <a:lvl2pPr lvl="1" algn="ctr">
              <a:lnSpc>
                <a:spcPct val="100000"/>
              </a:lnSpc>
              <a:spcBef>
                <a:spcPts val="0"/>
              </a:spcBef>
              <a:spcAft>
                <a:spcPts val="0"/>
              </a:spcAft>
              <a:buClr>
                <a:schemeClr val="dk2"/>
              </a:buClr>
              <a:buSzPts val="5200"/>
              <a:buNone/>
              <a:defRPr sz="5200">
                <a:solidFill>
                  <a:schemeClr val="dk2"/>
                </a:solidFill>
              </a:defRPr>
            </a:lvl2pPr>
            <a:lvl3pPr lvl="2" algn="ctr">
              <a:lnSpc>
                <a:spcPct val="100000"/>
              </a:lnSpc>
              <a:spcBef>
                <a:spcPts val="0"/>
              </a:spcBef>
              <a:spcAft>
                <a:spcPts val="0"/>
              </a:spcAft>
              <a:buClr>
                <a:schemeClr val="dk2"/>
              </a:buClr>
              <a:buSzPts val="5200"/>
              <a:buNone/>
              <a:defRPr sz="5200">
                <a:solidFill>
                  <a:schemeClr val="dk2"/>
                </a:solidFill>
              </a:defRPr>
            </a:lvl3pPr>
            <a:lvl4pPr lvl="3" algn="ctr">
              <a:lnSpc>
                <a:spcPct val="100000"/>
              </a:lnSpc>
              <a:spcBef>
                <a:spcPts val="0"/>
              </a:spcBef>
              <a:spcAft>
                <a:spcPts val="0"/>
              </a:spcAft>
              <a:buClr>
                <a:schemeClr val="dk2"/>
              </a:buClr>
              <a:buSzPts val="5200"/>
              <a:buNone/>
              <a:defRPr sz="5200">
                <a:solidFill>
                  <a:schemeClr val="dk2"/>
                </a:solidFill>
              </a:defRPr>
            </a:lvl4pPr>
            <a:lvl5pPr lvl="4" algn="ctr">
              <a:lnSpc>
                <a:spcPct val="100000"/>
              </a:lnSpc>
              <a:spcBef>
                <a:spcPts val="0"/>
              </a:spcBef>
              <a:spcAft>
                <a:spcPts val="0"/>
              </a:spcAft>
              <a:buClr>
                <a:schemeClr val="dk2"/>
              </a:buClr>
              <a:buSzPts val="5200"/>
              <a:buNone/>
              <a:defRPr sz="5200">
                <a:solidFill>
                  <a:schemeClr val="dk2"/>
                </a:solidFill>
              </a:defRPr>
            </a:lvl5pPr>
            <a:lvl6pPr lvl="5" algn="ctr">
              <a:lnSpc>
                <a:spcPct val="100000"/>
              </a:lnSpc>
              <a:spcBef>
                <a:spcPts val="0"/>
              </a:spcBef>
              <a:spcAft>
                <a:spcPts val="0"/>
              </a:spcAft>
              <a:buClr>
                <a:schemeClr val="dk2"/>
              </a:buClr>
              <a:buSzPts val="5200"/>
              <a:buNone/>
              <a:defRPr sz="5200">
                <a:solidFill>
                  <a:schemeClr val="dk2"/>
                </a:solidFill>
              </a:defRPr>
            </a:lvl6pPr>
            <a:lvl7pPr lvl="6" algn="ctr">
              <a:lnSpc>
                <a:spcPct val="100000"/>
              </a:lnSpc>
              <a:spcBef>
                <a:spcPts val="0"/>
              </a:spcBef>
              <a:spcAft>
                <a:spcPts val="0"/>
              </a:spcAft>
              <a:buClr>
                <a:schemeClr val="dk2"/>
              </a:buClr>
              <a:buSzPts val="5200"/>
              <a:buNone/>
              <a:defRPr sz="5200">
                <a:solidFill>
                  <a:schemeClr val="dk2"/>
                </a:solidFill>
              </a:defRPr>
            </a:lvl7pPr>
            <a:lvl8pPr lvl="7" algn="ctr">
              <a:lnSpc>
                <a:spcPct val="100000"/>
              </a:lnSpc>
              <a:spcBef>
                <a:spcPts val="0"/>
              </a:spcBef>
              <a:spcAft>
                <a:spcPts val="0"/>
              </a:spcAft>
              <a:buClr>
                <a:schemeClr val="dk2"/>
              </a:buClr>
              <a:buSzPts val="5200"/>
              <a:buNone/>
              <a:defRPr sz="5200">
                <a:solidFill>
                  <a:schemeClr val="dk2"/>
                </a:solidFill>
              </a:defRPr>
            </a:lvl8pPr>
            <a:lvl9pPr lvl="8" algn="ctr">
              <a:lnSpc>
                <a:spcPct val="100000"/>
              </a:lnSpc>
              <a:spcBef>
                <a:spcPts val="0"/>
              </a:spcBef>
              <a:spcAft>
                <a:spcPts val="0"/>
              </a:spcAft>
              <a:buClr>
                <a:schemeClr val="dk2"/>
              </a:buClr>
              <a:buSzPts val="5200"/>
              <a:buNone/>
              <a:defRPr sz="5200">
                <a:solidFill>
                  <a:schemeClr val="dk2"/>
                </a:solidFill>
              </a:defRPr>
            </a:lvl9pPr>
          </a:lstStyle>
          <a:p>
            <a:endParaRPr/>
          </a:p>
        </p:txBody>
      </p:sp>
      <p:sp>
        <p:nvSpPr>
          <p:cNvPr id="10" name="Google Shape;10;p2"/>
          <p:cNvSpPr txBox="1">
            <a:spLocks noGrp="1"/>
          </p:cNvSpPr>
          <p:nvPr>
            <p:ph type="subTitle" idx="1"/>
          </p:nvPr>
        </p:nvSpPr>
        <p:spPr>
          <a:xfrm>
            <a:off x="4108900" y="3804860"/>
            <a:ext cx="4320000" cy="4095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2"/>
              </a:buClr>
              <a:buSzPts val="1400"/>
              <a:buNone/>
              <a:defRPr sz="1600">
                <a:solidFill>
                  <a:schemeClr val="dk2"/>
                </a:solidFill>
                <a:latin typeface="Roboto Medium"/>
                <a:ea typeface="Roboto Medium"/>
                <a:cs typeface="Roboto Medium"/>
                <a:sym typeface="Roboto Medium"/>
              </a:defRPr>
            </a:lvl1pPr>
            <a:lvl2pPr lvl="1" algn="ctr">
              <a:lnSpc>
                <a:spcPct val="100000"/>
              </a:lnSpc>
              <a:spcBef>
                <a:spcPts val="0"/>
              </a:spcBef>
              <a:spcAft>
                <a:spcPts val="0"/>
              </a:spcAft>
              <a:buClr>
                <a:schemeClr val="dk2"/>
              </a:buClr>
              <a:buSzPts val="1800"/>
              <a:buNone/>
              <a:defRPr sz="1800">
                <a:solidFill>
                  <a:schemeClr val="dk2"/>
                </a:solidFill>
              </a:defRPr>
            </a:lvl2pPr>
            <a:lvl3pPr lvl="2" algn="ctr">
              <a:lnSpc>
                <a:spcPct val="100000"/>
              </a:lnSpc>
              <a:spcBef>
                <a:spcPts val="0"/>
              </a:spcBef>
              <a:spcAft>
                <a:spcPts val="0"/>
              </a:spcAft>
              <a:buClr>
                <a:schemeClr val="dk2"/>
              </a:buClr>
              <a:buSzPts val="1800"/>
              <a:buNone/>
              <a:defRPr sz="1800">
                <a:solidFill>
                  <a:schemeClr val="dk2"/>
                </a:solidFill>
              </a:defRPr>
            </a:lvl3pPr>
            <a:lvl4pPr lvl="3" algn="ctr">
              <a:lnSpc>
                <a:spcPct val="100000"/>
              </a:lnSpc>
              <a:spcBef>
                <a:spcPts val="0"/>
              </a:spcBef>
              <a:spcAft>
                <a:spcPts val="0"/>
              </a:spcAft>
              <a:buClr>
                <a:schemeClr val="dk2"/>
              </a:buClr>
              <a:buSzPts val="1800"/>
              <a:buNone/>
              <a:defRPr sz="1800">
                <a:solidFill>
                  <a:schemeClr val="dk2"/>
                </a:solidFill>
              </a:defRPr>
            </a:lvl4pPr>
            <a:lvl5pPr lvl="4" algn="ctr">
              <a:lnSpc>
                <a:spcPct val="100000"/>
              </a:lnSpc>
              <a:spcBef>
                <a:spcPts val="0"/>
              </a:spcBef>
              <a:spcAft>
                <a:spcPts val="0"/>
              </a:spcAft>
              <a:buClr>
                <a:schemeClr val="dk2"/>
              </a:buClr>
              <a:buSzPts val="1800"/>
              <a:buNone/>
              <a:defRPr sz="1800">
                <a:solidFill>
                  <a:schemeClr val="dk2"/>
                </a:solidFill>
              </a:defRPr>
            </a:lvl5pPr>
            <a:lvl6pPr lvl="5" algn="ctr">
              <a:lnSpc>
                <a:spcPct val="100000"/>
              </a:lnSpc>
              <a:spcBef>
                <a:spcPts val="0"/>
              </a:spcBef>
              <a:spcAft>
                <a:spcPts val="0"/>
              </a:spcAft>
              <a:buClr>
                <a:schemeClr val="dk2"/>
              </a:buClr>
              <a:buSzPts val="1800"/>
              <a:buNone/>
              <a:defRPr sz="1800">
                <a:solidFill>
                  <a:schemeClr val="dk2"/>
                </a:solidFill>
              </a:defRPr>
            </a:lvl6pPr>
            <a:lvl7pPr lvl="6" algn="ctr">
              <a:lnSpc>
                <a:spcPct val="100000"/>
              </a:lnSpc>
              <a:spcBef>
                <a:spcPts val="0"/>
              </a:spcBef>
              <a:spcAft>
                <a:spcPts val="0"/>
              </a:spcAft>
              <a:buClr>
                <a:schemeClr val="dk2"/>
              </a:buClr>
              <a:buSzPts val="1800"/>
              <a:buNone/>
              <a:defRPr sz="1800">
                <a:solidFill>
                  <a:schemeClr val="dk2"/>
                </a:solidFill>
              </a:defRPr>
            </a:lvl7pPr>
            <a:lvl8pPr lvl="7" algn="ctr">
              <a:lnSpc>
                <a:spcPct val="100000"/>
              </a:lnSpc>
              <a:spcBef>
                <a:spcPts val="0"/>
              </a:spcBef>
              <a:spcAft>
                <a:spcPts val="0"/>
              </a:spcAft>
              <a:buClr>
                <a:schemeClr val="dk2"/>
              </a:buClr>
              <a:buSzPts val="1800"/>
              <a:buNone/>
              <a:defRPr sz="1800">
                <a:solidFill>
                  <a:schemeClr val="dk2"/>
                </a:solidFill>
              </a:defRPr>
            </a:lvl8pPr>
            <a:lvl9pPr lvl="8" algn="ctr">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11" name="Google Shape;11;p2"/>
          <p:cNvSpPr txBox="1">
            <a:spLocks noGrp="1"/>
          </p:cNvSpPr>
          <p:nvPr>
            <p:ph type="subTitle" idx="2"/>
          </p:nvPr>
        </p:nvSpPr>
        <p:spPr>
          <a:xfrm>
            <a:off x="7309847" y="366400"/>
            <a:ext cx="1252800" cy="33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2"/>
              </a:buClr>
              <a:buSzPts val="1400"/>
              <a:buNone/>
              <a:defRPr b="1">
                <a:solidFill>
                  <a:schemeClr val="dk2"/>
                </a:solidFill>
              </a:defRPr>
            </a:lvl1pPr>
            <a:lvl2pPr lvl="1" algn="ctr" rtl="0">
              <a:lnSpc>
                <a:spcPct val="100000"/>
              </a:lnSpc>
              <a:spcBef>
                <a:spcPts val="0"/>
              </a:spcBef>
              <a:spcAft>
                <a:spcPts val="0"/>
              </a:spcAft>
              <a:buClr>
                <a:schemeClr val="dk2"/>
              </a:buClr>
              <a:buSzPts val="1800"/>
              <a:buNone/>
              <a:defRPr sz="1800" b="1">
                <a:solidFill>
                  <a:schemeClr val="dk2"/>
                </a:solidFill>
              </a:defRPr>
            </a:lvl2pPr>
            <a:lvl3pPr lvl="2" algn="ctr" rtl="0">
              <a:lnSpc>
                <a:spcPct val="100000"/>
              </a:lnSpc>
              <a:spcBef>
                <a:spcPts val="0"/>
              </a:spcBef>
              <a:spcAft>
                <a:spcPts val="0"/>
              </a:spcAft>
              <a:buClr>
                <a:schemeClr val="dk2"/>
              </a:buClr>
              <a:buSzPts val="1800"/>
              <a:buNone/>
              <a:defRPr sz="1800" b="1">
                <a:solidFill>
                  <a:schemeClr val="dk2"/>
                </a:solidFill>
              </a:defRPr>
            </a:lvl3pPr>
            <a:lvl4pPr lvl="3" algn="ctr" rtl="0">
              <a:lnSpc>
                <a:spcPct val="100000"/>
              </a:lnSpc>
              <a:spcBef>
                <a:spcPts val="0"/>
              </a:spcBef>
              <a:spcAft>
                <a:spcPts val="0"/>
              </a:spcAft>
              <a:buClr>
                <a:schemeClr val="dk2"/>
              </a:buClr>
              <a:buSzPts val="1800"/>
              <a:buNone/>
              <a:defRPr sz="1800" b="1">
                <a:solidFill>
                  <a:schemeClr val="dk2"/>
                </a:solidFill>
              </a:defRPr>
            </a:lvl4pPr>
            <a:lvl5pPr lvl="4" algn="ctr" rtl="0">
              <a:lnSpc>
                <a:spcPct val="100000"/>
              </a:lnSpc>
              <a:spcBef>
                <a:spcPts val="0"/>
              </a:spcBef>
              <a:spcAft>
                <a:spcPts val="0"/>
              </a:spcAft>
              <a:buClr>
                <a:schemeClr val="dk2"/>
              </a:buClr>
              <a:buSzPts val="1800"/>
              <a:buNone/>
              <a:defRPr sz="1800" b="1">
                <a:solidFill>
                  <a:schemeClr val="dk2"/>
                </a:solidFill>
              </a:defRPr>
            </a:lvl5pPr>
            <a:lvl6pPr lvl="5" algn="ctr" rtl="0">
              <a:lnSpc>
                <a:spcPct val="100000"/>
              </a:lnSpc>
              <a:spcBef>
                <a:spcPts val="0"/>
              </a:spcBef>
              <a:spcAft>
                <a:spcPts val="0"/>
              </a:spcAft>
              <a:buClr>
                <a:schemeClr val="dk2"/>
              </a:buClr>
              <a:buSzPts val="1800"/>
              <a:buNone/>
              <a:defRPr sz="1800" b="1">
                <a:solidFill>
                  <a:schemeClr val="dk2"/>
                </a:solidFill>
              </a:defRPr>
            </a:lvl6pPr>
            <a:lvl7pPr lvl="6" algn="ctr" rtl="0">
              <a:lnSpc>
                <a:spcPct val="100000"/>
              </a:lnSpc>
              <a:spcBef>
                <a:spcPts val="0"/>
              </a:spcBef>
              <a:spcAft>
                <a:spcPts val="0"/>
              </a:spcAft>
              <a:buClr>
                <a:schemeClr val="dk2"/>
              </a:buClr>
              <a:buSzPts val="1800"/>
              <a:buNone/>
              <a:defRPr sz="1800" b="1">
                <a:solidFill>
                  <a:schemeClr val="dk2"/>
                </a:solidFill>
              </a:defRPr>
            </a:lvl7pPr>
            <a:lvl8pPr lvl="7" algn="ctr" rtl="0">
              <a:lnSpc>
                <a:spcPct val="100000"/>
              </a:lnSpc>
              <a:spcBef>
                <a:spcPts val="0"/>
              </a:spcBef>
              <a:spcAft>
                <a:spcPts val="0"/>
              </a:spcAft>
              <a:buClr>
                <a:schemeClr val="dk2"/>
              </a:buClr>
              <a:buSzPts val="1800"/>
              <a:buNone/>
              <a:defRPr sz="1800" b="1">
                <a:solidFill>
                  <a:schemeClr val="dk2"/>
                </a:solidFill>
              </a:defRPr>
            </a:lvl8pPr>
            <a:lvl9pPr lvl="8" algn="ctr" rtl="0">
              <a:lnSpc>
                <a:spcPct val="100000"/>
              </a:lnSpc>
              <a:spcBef>
                <a:spcPts val="0"/>
              </a:spcBef>
              <a:spcAft>
                <a:spcPts val="0"/>
              </a:spcAft>
              <a:buClr>
                <a:schemeClr val="dk2"/>
              </a:buClr>
              <a:buSzPts val="1800"/>
              <a:buNone/>
              <a:defRPr sz="1800" b="1">
                <a:solidFill>
                  <a:schemeClr val="dk2"/>
                </a:solidFill>
              </a:defRPr>
            </a:lvl9pPr>
          </a:lstStyle>
          <a:p>
            <a:endParaRPr/>
          </a:p>
        </p:txBody>
      </p:sp>
      <p:sp>
        <p:nvSpPr>
          <p:cNvPr id="12" name="Google Shape;12;p2"/>
          <p:cNvSpPr>
            <a:spLocks noGrp="1"/>
          </p:cNvSpPr>
          <p:nvPr>
            <p:ph type="pic" idx="3"/>
          </p:nvPr>
        </p:nvSpPr>
        <p:spPr>
          <a:xfrm>
            <a:off x="0" y="136275"/>
            <a:ext cx="3402600" cy="5007300"/>
          </a:xfrm>
          <a:prstGeom prst="round1Rect">
            <a:avLst>
              <a:gd name="adj" fmla="val 50000"/>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397990" y="2354469"/>
            <a:ext cx="4937400" cy="841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5000"/>
              <a:buNone/>
              <a:defRPr sz="5000">
                <a:solidFill>
                  <a:schemeClr val="dk2"/>
                </a:solidFill>
                <a:latin typeface="Playfair Display SemiBold"/>
                <a:ea typeface="Playfair Display SemiBold"/>
                <a:cs typeface="Playfair Display SemiBold"/>
                <a:sym typeface="Playfair Display SemiBold"/>
              </a:defRPr>
            </a:lvl1pPr>
            <a:lvl2pPr lvl="1" algn="ctr">
              <a:spcBef>
                <a:spcPts val="0"/>
              </a:spcBef>
              <a:spcAft>
                <a:spcPts val="0"/>
              </a:spcAft>
              <a:buClr>
                <a:schemeClr val="dk2"/>
              </a:buClr>
              <a:buSzPts val="5000"/>
              <a:buNone/>
              <a:defRPr sz="5000">
                <a:solidFill>
                  <a:schemeClr val="dk2"/>
                </a:solidFill>
              </a:defRPr>
            </a:lvl2pPr>
            <a:lvl3pPr lvl="2" algn="ctr">
              <a:spcBef>
                <a:spcPts val="0"/>
              </a:spcBef>
              <a:spcAft>
                <a:spcPts val="0"/>
              </a:spcAft>
              <a:buClr>
                <a:schemeClr val="dk2"/>
              </a:buClr>
              <a:buSzPts val="5000"/>
              <a:buNone/>
              <a:defRPr sz="5000">
                <a:solidFill>
                  <a:schemeClr val="dk2"/>
                </a:solidFill>
              </a:defRPr>
            </a:lvl3pPr>
            <a:lvl4pPr lvl="3" algn="ctr">
              <a:spcBef>
                <a:spcPts val="0"/>
              </a:spcBef>
              <a:spcAft>
                <a:spcPts val="0"/>
              </a:spcAft>
              <a:buClr>
                <a:schemeClr val="dk2"/>
              </a:buClr>
              <a:buSzPts val="5000"/>
              <a:buNone/>
              <a:defRPr sz="5000">
                <a:solidFill>
                  <a:schemeClr val="dk2"/>
                </a:solidFill>
              </a:defRPr>
            </a:lvl4pPr>
            <a:lvl5pPr lvl="4" algn="ctr">
              <a:spcBef>
                <a:spcPts val="0"/>
              </a:spcBef>
              <a:spcAft>
                <a:spcPts val="0"/>
              </a:spcAft>
              <a:buClr>
                <a:schemeClr val="dk2"/>
              </a:buClr>
              <a:buSzPts val="5000"/>
              <a:buNone/>
              <a:defRPr sz="5000">
                <a:solidFill>
                  <a:schemeClr val="dk2"/>
                </a:solidFill>
              </a:defRPr>
            </a:lvl5pPr>
            <a:lvl6pPr lvl="5" algn="ctr">
              <a:spcBef>
                <a:spcPts val="0"/>
              </a:spcBef>
              <a:spcAft>
                <a:spcPts val="0"/>
              </a:spcAft>
              <a:buClr>
                <a:schemeClr val="dk2"/>
              </a:buClr>
              <a:buSzPts val="5000"/>
              <a:buNone/>
              <a:defRPr sz="5000">
                <a:solidFill>
                  <a:schemeClr val="dk2"/>
                </a:solidFill>
              </a:defRPr>
            </a:lvl6pPr>
            <a:lvl7pPr lvl="6" algn="ctr">
              <a:spcBef>
                <a:spcPts val="0"/>
              </a:spcBef>
              <a:spcAft>
                <a:spcPts val="0"/>
              </a:spcAft>
              <a:buClr>
                <a:schemeClr val="dk2"/>
              </a:buClr>
              <a:buSzPts val="5000"/>
              <a:buNone/>
              <a:defRPr sz="5000">
                <a:solidFill>
                  <a:schemeClr val="dk2"/>
                </a:solidFill>
              </a:defRPr>
            </a:lvl7pPr>
            <a:lvl8pPr lvl="7" algn="ctr">
              <a:spcBef>
                <a:spcPts val="0"/>
              </a:spcBef>
              <a:spcAft>
                <a:spcPts val="0"/>
              </a:spcAft>
              <a:buClr>
                <a:schemeClr val="dk2"/>
              </a:buClr>
              <a:buSzPts val="5000"/>
              <a:buNone/>
              <a:defRPr sz="5000">
                <a:solidFill>
                  <a:schemeClr val="dk2"/>
                </a:solidFill>
              </a:defRPr>
            </a:lvl8pPr>
            <a:lvl9pPr lvl="8" algn="ctr">
              <a:spcBef>
                <a:spcPts val="0"/>
              </a:spcBef>
              <a:spcAft>
                <a:spcPts val="0"/>
              </a:spcAft>
              <a:buClr>
                <a:schemeClr val="dk2"/>
              </a:buClr>
              <a:buSzPts val="5000"/>
              <a:buNone/>
              <a:defRPr sz="5000">
                <a:solidFill>
                  <a:schemeClr val="dk2"/>
                </a:solidFill>
              </a:defRPr>
            </a:lvl9pPr>
          </a:lstStyle>
          <a:p>
            <a:endParaRPr/>
          </a:p>
        </p:txBody>
      </p:sp>
      <p:sp>
        <p:nvSpPr>
          <p:cNvPr id="15" name="Google Shape;15;p3"/>
          <p:cNvSpPr txBox="1">
            <a:spLocks noGrp="1"/>
          </p:cNvSpPr>
          <p:nvPr>
            <p:ph type="title" idx="2" hasCustomPrompt="1"/>
          </p:nvPr>
        </p:nvSpPr>
        <p:spPr>
          <a:xfrm>
            <a:off x="3398000" y="1766223"/>
            <a:ext cx="1192500" cy="465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6000"/>
              <a:buNone/>
              <a:defRPr sz="5000">
                <a:solidFill>
                  <a:schemeClr val="dk2"/>
                </a:solidFill>
                <a:latin typeface="Playfair Display SemiBold"/>
                <a:ea typeface="Playfair Display SemiBold"/>
                <a:cs typeface="Playfair Display SemiBold"/>
                <a:sym typeface="Playfair Display SemiBold"/>
              </a:defRPr>
            </a:lvl1pPr>
            <a:lvl2pPr lvl="1" algn="ctr" rtl="0">
              <a:spcBef>
                <a:spcPts val="0"/>
              </a:spcBef>
              <a:spcAft>
                <a:spcPts val="0"/>
              </a:spcAft>
              <a:buClr>
                <a:schemeClr val="dk2"/>
              </a:buClr>
              <a:buSzPts val="6000"/>
              <a:buNone/>
              <a:defRPr sz="6000">
                <a:solidFill>
                  <a:schemeClr val="dk2"/>
                </a:solidFill>
              </a:defRPr>
            </a:lvl2pPr>
            <a:lvl3pPr lvl="2" algn="ctr" rtl="0">
              <a:spcBef>
                <a:spcPts val="0"/>
              </a:spcBef>
              <a:spcAft>
                <a:spcPts val="0"/>
              </a:spcAft>
              <a:buClr>
                <a:schemeClr val="dk2"/>
              </a:buClr>
              <a:buSzPts val="6000"/>
              <a:buNone/>
              <a:defRPr sz="6000">
                <a:solidFill>
                  <a:schemeClr val="dk2"/>
                </a:solidFill>
              </a:defRPr>
            </a:lvl3pPr>
            <a:lvl4pPr lvl="3" algn="ctr" rtl="0">
              <a:spcBef>
                <a:spcPts val="0"/>
              </a:spcBef>
              <a:spcAft>
                <a:spcPts val="0"/>
              </a:spcAft>
              <a:buClr>
                <a:schemeClr val="dk2"/>
              </a:buClr>
              <a:buSzPts val="6000"/>
              <a:buNone/>
              <a:defRPr sz="6000">
                <a:solidFill>
                  <a:schemeClr val="dk2"/>
                </a:solidFill>
              </a:defRPr>
            </a:lvl4pPr>
            <a:lvl5pPr lvl="4" algn="ctr" rtl="0">
              <a:spcBef>
                <a:spcPts val="0"/>
              </a:spcBef>
              <a:spcAft>
                <a:spcPts val="0"/>
              </a:spcAft>
              <a:buClr>
                <a:schemeClr val="dk2"/>
              </a:buClr>
              <a:buSzPts val="6000"/>
              <a:buNone/>
              <a:defRPr sz="6000">
                <a:solidFill>
                  <a:schemeClr val="dk2"/>
                </a:solidFill>
              </a:defRPr>
            </a:lvl5pPr>
            <a:lvl6pPr lvl="5" algn="ctr" rtl="0">
              <a:spcBef>
                <a:spcPts val="0"/>
              </a:spcBef>
              <a:spcAft>
                <a:spcPts val="0"/>
              </a:spcAft>
              <a:buClr>
                <a:schemeClr val="dk2"/>
              </a:buClr>
              <a:buSzPts val="6000"/>
              <a:buNone/>
              <a:defRPr sz="6000">
                <a:solidFill>
                  <a:schemeClr val="dk2"/>
                </a:solidFill>
              </a:defRPr>
            </a:lvl6pPr>
            <a:lvl7pPr lvl="6" algn="ctr" rtl="0">
              <a:spcBef>
                <a:spcPts val="0"/>
              </a:spcBef>
              <a:spcAft>
                <a:spcPts val="0"/>
              </a:spcAft>
              <a:buClr>
                <a:schemeClr val="dk2"/>
              </a:buClr>
              <a:buSzPts val="6000"/>
              <a:buNone/>
              <a:defRPr sz="6000">
                <a:solidFill>
                  <a:schemeClr val="dk2"/>
                </a:solidFill>
              </a:defRPr>
            </a:lvl7pPr>
            <a:lvl8pPr lvl="7" algn="ctr" rtl="0">
              <a:spcBef>
                <a:spcPts val="0"/>
              </a:spcBef>
              <a:spcAft>
                <a:spcPts val="0"/>
              </a:spcAft>
              <a:buClr>
                <a:schemeClr val="dk2"/>
              </a:buClr>
              <a:buSzPts val="6000"/>
              <a:buNone/>
              <a:defRPr sz="6000">
                <a:solidFill>
                  <a:schemeClr val="dk2"/>
                </a:solidFill>
              </a:defRPr>
            </a:lvl8pPr>
            <a:lvl9pPr lvl="8" algn="ctr" rtl="0">
              <a:spcBef>
                <a:spcPts val="0"/>
              </a:spcBef>
              <a:spcAft>
                <a:spcPts val="0"/>
              </a:spcAft>
              <a:buClr>
                <a:schemeClr val="dk2"/>
              </a:buClr>
              <a:buSzPts val="6000"/>
              <a:buNone/>
              <a:defRPr sz="6000">
                <a:solidFill>
                  <a:schemeClr val="dk2"/>
                </a:solidFill>
              </a:defRPr>
            </a:lvl9pPr>
          </a:lstStyle>
          <a:p>
            <a:r>
              <a:t>xx%</a:t>
            </a:r>
          </a:p>
        </p:txBody>
      </p:sp>
      <p:sp>
        <p:nvSpPr>
          <p:cNvPr id="16" name="Google Shape;16;p3"/>
          <p:cNvSpPr txBox="1">
            <a:spLocks noGrp="1"/>
          </p:cNvSpPr>
          <p:nvPr>
            <p:ph type="subTitle" idx="1"/>
          </p:nvPr>
        </p:nvSpPr>
        <p:spPr>
          <a:xfrm>
            <a:off x="3397990" y="3500300"/>
            <a:ext cx="49374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1400"/>
              <a:buNone/>
              <a:defRPr sz="1600">
                <a:solidFill>
                  <a:schemeClr val="dk2"/>
                </a:solidFill>
                <a:latin typeface="Roboto Medium"/>
                <a:ea typeface="Roboto Medium"/>
                <a:cs typeface="Roboto Medium"/>
                <a:sym typeface="Roboto Medium"/>
              </a:defRPr>
            </a:lvl1pPr>
            <a:lvl2pPr lvl="1" algn="ctr" rtl="0">
              <a:lnSpc>
                <a:spcPct val="100000"/>
              </a:lnSpc>
              <a:spcBef>
                <a:spcPts val="0"/>
              </a:spcBef>
              <a:spcAft>
                <a:spcPts val="0"/>
              </a:spcAft>
              <a:buClr>
                <a:schemeClr val="dk2"/>
              </a:buClr>
              <a:buSzPts val="1400"/>
              <a:buNone/>
              <a:defRPr>
                <a:solidFill>
                  <a:schemeClr val="dk2"/>
                </a:solidFill>
              </a:defRPr>
            </a:lvl2pPr>
            <a:lvl3pPr lvl="2" algn="ctr" rtl="0">
              <a:lnSpc>
                <a:spcPct val="100000"/>
              </a:lnSpc>
              <a:spcBef>
                <a:spcPts val="0"/>
              </a:spcBef>
              <a:spcAft>
                <a:spcPts val="0"/>
              </a:spcAft>
              <a:buClr>
                <a:schemeClr val="dk2"/>
              </a:buClr>
              <a:buSzPts val="1400"/>
              <a:buNone/>
              <a:defRPr>
                <a:solidFill>
                  <a:schemeClr val="dk2"/>
                </a:solidFill>
              </a:defRPr>
            </a:lvl3pPr>
            <a:lvl4pPr lvl="3" algn="ctr" rtl="0">
              <a:lnSpc>
                <a:spcPct val="100000"/>
              </a:lnSpc>
              <a:spcBef>
                <a:spcPts val="0"/>
              </a:spcBef>
              <a:spcAft>
                <a:spcPts val="0"/>
              </a:spcAft>
              <a:buClr>
                <a:schemeClr val="dk2"/>
              </a:buClr>
              <a:buSzPts val="1400"/>
              <a:buNone/>
              <a:defRPr>
                <a:solidFill>
                  <a:schemeClr val="dk2"/>
                </a:solidFill>
              </a:defRPr>
            </a:lvl4pPr>
            <a:lvl5pPr lvl="4" algn="ctr" rtl="0">
              <a:lnSpc>
                <a:spcPct val="100000"/>
              </a:lnSpc>
              <a:spcBef>
                <a:spcPts val="0"/>
              </a:spcBef>
              <a:spcAft>
                <a:spcPts val="0"/>
              </a:spcAft>
              <a:buClr>
                <a:schemeClr val="dk2"/>
              </a:buClr>
              <a:buSzPts val="1400"/>
              <a:buNone/>
              <a:defRPr>
                <a:solidFill>
                  <a:schemeClr val="dk2"/>
                </a:solidFill>
              </a:defRPr>
            </a:lvl5pPr>
            <a:lvl6pPr lvl="5" algn="ctr" rtl="0">
              <a:lnSpc>
                <a:spcPct val="100000"/>
              </a:lnSpc>
              <a:spcBef>
                <a:spcPts val="0"/>
              </a:spcBef>
              <a:spcAft>
                <a:spcPts val="0"/>
              </a:spcAft>
              <a:buClr>
                <a:schemeClr val="dk2"/>
              </a:buClr>
              <a:buSzPts val="1400"/>
              <a:buNone/>
              <a:defRPr>
                <a:solidFill>
                  <a:schemeClr val="dk2"/>
                </a:solidFill>
              </a:defRPr>
            </a:lvl6pPr>
            <a:lvl7pPr lvl="6" algn="ctr" rtl="0">
              <a:lnSpc>
                <a:spcPct val="100000"/>
              </a:lnSpc>
              <a:spcBef>
                <a:spcPts val="0"/>
              </a:spcBef>
              <a:spcAft>
                <a:spcPts val="0"/>
              </a:spcAft>
              <a:buClr>
                <a:schemeClr val="dk2"/>
              </a:buClr>
              <a:buSzPts val="1400"/>
              <a:buNone/>
              <a:defRPr>
                <a:solidFill>
                  <a:schemeClr val="dk2"/>
                </a:solidFill>
              </a:defRPr>
            </a:lvl7pPr>
            <a:lvl8pPr lvl="7" algn="ctr" rtl="0">
              <a:lnSpc>
                <a:spcPct val="100000"/>
              </a:lnSpc>
              <a:spcBef>
                <a:spcPts val="0"/>
              </a:spcBef>
              <a:spcAft>
                <a:spcPts val="0"/>
              </a:spcAft>
              <a:buClr>
                <a:schemeClr val="dk2"/>
              </a:buClr>
              <a:buSzPts val="1400"/>
              <a:buNone/>
              <a:defRPr>
                <a:solidFill>
                  <a:schemeClr val="dk2"/>
                </a:solidFill>
              </a:defRPr>
            </a:lvl8pPr>
            <a:lvl9pPr lvl="8" algn="ct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7" name="Google Shape;17;p3"/>
          <p:cNvSpPr txBox="1">
            <a:spLocks noGrp="1"/>
          </p:cNvSpPr>
          <p:nvPr>
            <p:ph type="subTitle" idx="3"/>
          </p:nvPr>
        </p:nvSpPr>
        <p:spPr>
          <a:xfrm>
            <a:off x="7309847" y="366400"/>
            <a:ext cx="1252800" cy="33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2"/>
              </a:buClr>
              <a:buSzPts val="1400"/>
              <a:buNone/>
              <a:defRPr b="1">
                <a:solidFill>
                  <a:schemeClr val="dk2"/>
                </a:solidFill>
              </a:defRPr>
            </a:lvl1pPr>
            <a:lvl2pPr lvl="1" algn="ctr" rtl="0">
              <a:lnSpc>
                <a:spcPct val="100000"/>
              </a:lnSpc>
              <a:spcBef>
                <a:spcPts val="0"/>
              </a:spcBef>
              <a:spcAft>
                <a:spcPts val="0"/>
              </a:spcAft>
              <a:buClr>
                <a:schemeClr val="dk2"/>
              </a:buClr>
              <a:buSzPts val="1800"/>
              <a:buNone/>
              <a:defRPr sz="1800" b="1">
                <a:solidFill>
                  <a:schemeClr val="dk2"/>
                </a:solidFill>
              </a:defRPr>
            </a:lvl2pPr>
            <a:lvl3pPr lvl="2" algn="ctr" rtl="0">
              <a:lnSpc>
                <a:spcPct val="100000"/>
              </a:lnSpc>
              <a:spcBef>
                <a:spcPts val="0"/>
              </a:spcBef>
              <a:spcAft>
                <a:spcPts val="0"/>
              </a:spcAft>
              <a:buClr>
                <a:schemeClr val="dk2"/>
              </a:buClr>
              <a:buSzPts val="1800"/>
              <a:buNone/>
              <a:defRPr sz="1800" b="1">
                <a:solidFill>
                  <a:schemeClr val="dk2"/>
                </a:solidFill>
              </a:defRPr>
            </a:lvl3pPr>
            <a:lvl4pPr lvl="3" algn="ctr" rtl="0">
              <a:lnSpc>
                <a:spcPct val="100000"/>
              </a:lnSpc>
              <a:spcBef>
                <a:spcPts val="0"/>
              </a:spcBef>
              <a:spcAft>
                <a:spcPts val="0"/>
              </a:spcAft>
              <a:buClr>
                <a:schemeClr val="dk2"/>
              </a:buClr>
              <a:buSzPts val="1800"/>
              <a:buNone/>
              <a:defRPr sz="1800" b="1">
                <a:solidFill>
                  <a:schemeClr val="dk2"/>
                </a:solidFill>
              </a:defRPr>
            </a:lvl4pPr>
            <a:lvl5pPr lvl="4" algn="ctr" rtl="0">
              <a:lnSpc>
                <a:spcPct val="100000"/>
              </a:lnSpc>
              <a:spcBef>
                <a:spcPts val="0"/>
              </a:spcBef>
              <a:spcAft>
                <a:spcPts val="0"/>
              </a:spcAft>
              <a:buClr>
                <a:schemeClr val="dk2"/>
              </a:buClr>
              <a:buSzPts val="1800"/>
              <a:buNone/>
              <a:defRPr sz="1800" b="1">
                <a:solidFill>
                  <a:schemeClr val="dk2"/>
                </a:solidFill>
              </a:defRPr>
            </a:lvl5pPr>
            <a:lvl6pPr lvl="5" algn="ctr" rtl="0">
              <a:lnSpc>
                <a:spcPct val="100000"/>
              </a:lnSpc>
              <a:spcBef>
                <a:spcPts val="0"/>
              </a:spcBef>
              <a:spcAft>
                <a:spcPts val="0"/>
              </a:spcAft>
              <a:buClr>
                <a:schemeClr val="dk2"/>
              </a:buClr>
              <a:buSzPts val="1800"/>
              <a:buNone/>
              <a:defRPr sz="1800" b="1">
                <a:solidFill>
                  <a:schemeClr val="dk2"/>
                </a:solidFill>
              </a:defRPr>
            </a:lvl6pPr>
            <a:lvl7pPr lvl="6" algn="ctr" rtl="0">
              <a:lnSpc>
                <a:spcPct val="100000"/>
              </a:lnSpc>
              <a:spcBef>
                <a:spcPts val="0"/>
              </a:spcBef>
              <a:spcAft>
                <a:spcPts val="0"/>
              </a:spcAft>
              <a:buClr>
                <a:schemeClr val="dk2"/>
              </a:buClr>
              <a:buSzPts val="1800"/>
              <a:buNone/>
              <a:defRPr sz="1800" b="1">
                <a:solidFill>
                  <a:schemeClr val="dk2"/>
                </a:solidFill>
              </a:defRPr>
            </a:lvl7pPr>
            <a:lvl8pPr lvl="7" algn="ctr" rtl="0">
              <a:lnSpc>
                <a:spcPct val="100000"/>
              </a:lnSpc>
              <a:spcBef>
                <a:spcPts val="0"/>
              </a:spcBef>
              <a:spcAft>
                <a:spcPts val="0"/>
              </a:spcAft>
              <a:buClr>
                <a:schemeClr val="dk2"/>
              </a:buClr>
              <a:buSzPts val="1800"/>
              <a:buNone/>
              <a:defRPr sz="1800" b="1">
                <a:solidFill>
                  <a:schemeClr val="dk2"/>
                </a:solidFill>
              </a:defRPr>
            </a:lvl8pPr>
            <a:lvl9pPr lvl="8" algn="ctr" rtl="0">
              <a:lnSpc>
                <a:spcPct val="100000"/>
              </a:lnSpc>
              <a:spcBef>
                <a:spcPts val="0"/>
              </a:spcBef>
              <a:spcAft>
                <a:spcPts val="0"/>
              </a:spcAft>
              <a:buClr>
                <a:schemeClr val="dk2"/>
              </a:buClr>
              <a:buSzPts val="1800"/>
              <a:buNone/>
              <a:defRPr sz="1800" b="1">
                <a:solidFill>
                  <a:schemeClr val="dk2"/>
                </a:solidFill>
              </a:defRPr>
            </a:lvl9pPr>
          </a:lstStyle>
          <a:p>
            <a:endParaRPr/>
          </a:p>
        </p:txBody>
      </p:sp>
      <p:sp>
        <p:nvSpPr>
          <p:cNvPr id="18" name="Google Shape;18;p3"/>
          <p:cNvSpPr>
            <a:spLocks noGrp="1"/>
          </p:cNvSpPr>
          <p:nvPr>
            <p:ph type="pic" idx="4"/>
          </p:nvPr>
        </p:nvSpPr>
        <p:spPr>
          <a:xfrm>
            <a:off x="0" y="480215"/>
            <a:ext cx="3168900" cy="4663500"/>
          </a:xfrm>
          <a:prstGeom prst="round1Rect">
            <a:avLst>
              <a:gd name="adj" fmla="val 50000"/>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19"/>
        <p:cNvGrpSpPr/>
        <p:nvPr/>
      </p:nvGrpSpPr>
      <p:grpSpPr>
        <a:xfrm>
          <a:off x="0" y="0"/>
          <a:ext cx="0" cy="0"/>
          <a:chOff x="0" y="0"/>
          <a:chExt cx="0" cy="0"/>
        </a:xfrm>
      </p:grpSpPr>
      <p:sp>
        <p:nvSpPr>
          <p:cNvPr id="20" name="Google Shape;20;p4"/>
          <p:cNvSpPr/>
          <p:nvPr/>
        </p:nvSpPr>
        <p:spPr>
          <a:xfrm flipH="1">
            <a:off x="417900" y="0"/>
            <a:ext cx="8726100" cy="5143500"/>
          </a:xfrm>
          <a:prstGeom prst="round1Rect">
            <a:avLst>
              <a:gd name="adj" fmla="val 125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720000" y="535000"/>
            <a:ext cx="7704000" cy="53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atin typeface="Playfair Display SemiBold"/>
                <a:ea typeface="Playfair Display SemiBold"/>
                <a:cs typeface="Playfair Display SemiBold"/>
                <a:sym typeface="Playfair Display SemiBold"/>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a:endParaRPr/>
          </a:p>
        </p:txBody>
      </p:sp>
      <p:sp>
        <p:nvSpPr>
          <p:cNvPr id="22" name="Google Shape;22;p4"/>
          <p:cNvSpPr txBox="1">
            <a:spLocks noGrp="1"/>
          </p:cNvSpPr>
          <p:nvPr>
            <p:ph type="body" idx="1"/>
          </p:nvPr>
        </p:nvSpPr>
        <p:spPr>
          <a:xfrm>
            <a:off x="720000" y="1234843"/>
            <a:ext cx="7704000" cy="322800"/>
          </a:xfrm>
          <a:prstGeom prst="rect">
            <a:avLst/>
          </a:prstGeom>
        </p:spPr>
        <p:txBody>
          <a:bodyPr spcFirstLastPara="1" wrap="square" lIns="91425" tIns="91425" rIns="91425" bIns="91425" anchor="b" anchorCtr="0">
            <a:noAutofit/>
          </a:bodyPr>
          <a:lstStyle>
            <a:lvl1pPr marL="457200" lvl="0" indent="-317500" algn="ctr" rtl="0">
              <a:lnSpc>
                <a:spcPct val="100000"/>
              </a:lnSpc>
              <a:spcBef>
                <a:spcPts val="0"/>
              </a:spcBef>
              <a:spcAft>
                <a:spcPts val="0"/>
              </a:spcAft>
              <a:buSzPts val="1400"/>
              <a:buChar char="●"/>
              <a:defRPr sz="1200">
                <a:latin typeface="Roboto Medium"/>
                <a:ea typeface="Roboto Medium"/>
                <a:cs typeface="Roboto Medium"/>
                <a:sym typeface="Roboto Medium"/>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1" name="Shape 33"/>
        <p:cNvGrpSpPr/>
        <p:nvPr/>
      </p:nvGrpSpPr>
      <p:grpSpPr>
        <a:xfrm>
          <a:off x="0" y="0"/>
          <a:ext cx="0" cy="0"/>
          <a:chOff x="0" y="0"/>
          <a:chExt cx="0" cy="0"/>
        </a:xfrm>
      </p:grpSpPr>
      <p:sp>
        <p:nvSpPr>
          <p:cNvPr id="34" name="Google Shape;34;p7"/>
          <p:cNvSpPr/>
          <p:nvPr/>
        </p:nvSpPr>
        <p:spPr>
          <a:xfrm flipH="1">
            <a:off x="417900" y="0"/>
            <a:ext cx="8726100" cy="5143500"/>
          </a:xfrm>
          <a:prstGeom prst="round1Rect">
            <a:avLst>
              <a:gd name="adj" fmla="val 125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7"/>
          <p:cNvSpPr txBox="1">
            <a:spLocks noGrp="1"/>
          </p:cNvSpPr>
          <p:nvPr>
            <p:ph type="subTitle" idx="1"/>
          </p:nvPr>
        </p:nvSpPr>
        <p:spPr>
          <a:xfrm>
            <a:off x="957025" y="2965100"/>
            <a:ext cx="3113700" cy="1643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400"/>
              <a:buFont typeface="Roboto Medium"/>
              <a:buNone/>
              <a:defRPr/>
            </a:lvl1pPr>
            <a:lvl2pPr lvl="1" rtl="0">
              <a:lnSpc>
                <a:spcPct val="100000"/>
              </a:lnSpc>
              <a:spcBef>
                <a:spcPts val="0"/>
              </a:spcBef>
              <a:spcAft>
                <a:spcPts val="0"/>
              </a:spcAft>
              <a:buSzPts val="1400"/>
              <a:buFont typeface="Roboto Medium"/>
              <a:buNone/>
              <a:defRPr>
                <a:latin typeface="Roboto Medium"/>
                <a:ea typeface="Roboto Medium"/>
                <a:cs typeface="Roboto Medium"/>
                <a:sym typeface="Roboto Medium"/>
              </a:defRPr>
            </a:lvl2pPr>
            <a:lvl3pPr lvl="2" rtl="0">
              <a:lnSpc>
                <a:spcPct val="100000"/>
              </a:lnSpc>
              <a:spcBef>
                <a:spcPts val="0"/>
              </a:spcBef>
              <a:spcAft>
                <a:spcPts val="0"/>
              </a:spcAft>
              <a:buSzPts val="1400"/>
              <a:buFont typeface="Roboto Medium"/>
              <a:buNone/>
              <a:defRPr>
                <a:latin typeface="Roboto Medium"/>
                <a:ea typeface="Roboto Medium"/>
                <a:cs typeface="Roboto Medium"/>
                <a:sym typeface="Roboto Medium"/>
              </a:defRPr>
            </a:lvl3pPr>
            <a:lvl4pPr lvl="3" rtl="0">
              <a:lnSpc>
                <a:spcPct val="100000"/>
              </a:lnSpc>
              <a:spcBef>
                <a:spcPts val="0"/>
              </a:spcBef>
              <a:spcAft>
                <a:spcPts val="0"/>
              </a:spcAft>
              <a:buSzPts val="1400"/>
              <a:buFont typeface="Roboto Medium"/>
              <a:buNone/>
              <a:defRPr>
                <a:latin typeface="Roboto Medium"/>
                <a:ea typeface="Roboto Medium"/>
                <a:cs typeface="Roboto Medium"/>
                <a:sym typeface="Roboto Medium"/>
              </a:defRPr>
            </a:lvl4pPr>
            <a:lvl5pPr lvl="4" rtl="0">
              <a:lnSpc>
                <a:spcPct val="100000"/>
              </a:lnSpc>
              <a:spcBef>
                <a:spcPts val="0"/>
              </a:spcBef>
              <a:spcAft>
                <a:spcPts val="0"/>
              </a:spcAft>
              <a:buSzPts val="1400"/>
              <a:buFont typeface="Roboto Medium"/>
              <a:buNone/>
              <a:defRPr>
                <a:latin typeface="Roboto Medium"/>
                <a:ea typeface="Roboto Medium"/>
                <a:cs typeface="Roboto Medium"/>
                <a:sym typeface="Roboto Medium"/>
              </a:defRPr>
            </a:lvl5pPr>
            <a:lvl6pPr lvl="5" rtl="0">
              <a:lnSpc>
                <a:spcPct val="100000"/>
              </a:lnSpc>
              <a:spcBef>
                <a:spcPts val="0"/>
              </a:spcBef>
              <a:spcAft>
                <a:spcPts val="0"/>
              </a:spcAft>
              <a:buSzPts val="1400"/>
              <a:buFont typeface="Roboto Medium"/>
              <a:buNone/>
              <a:defRPr>
                <a:latin typeface="Roboto Medium"/>
                <a:ea typeface="Roboto Medium"/>
                <a:cs typeface="Roboto Medium"/>
                <a:sym typeface="Roboto Medium"/>
              </a:defRPr>
            </a:lvl6pPr>
            <a:lvl7pPr lvl="6" rtl="0">
              <a:lnSpc>
                <a:spcPct val="100000"/>
              </a:lnSpc>
              <a:spcBef>
                <a:spcPts val="0"/>
              </a:spcBef>
              <a:spcAft>
                <a:spcPts val="0"/>
              </a:spcAft>
              <a:buSzPts val="1400"/>
              <a:buFont typeface="Roboto Medium"/>
              <a:buNone/>
              <a:defRPr>
                <a:latin typeface="Roboto Medium"/>
                <a:ea typeface="Roboto Medium"/>
                <a:cs typeface="Roboto Medium"/>
                <a:sym typeface="Roboto Medium"/>
              </a:defRPr>
            </a:lvl7pPr>
            <a:lvl8pPr lvl="7" rtl="0">
              <a:lnSpc>
                <a:spcPct val="100000"/>
              </a:lnSpc>
              <a:spcBef>
                <a:spcPts val="0"/>
              </a:spcBef>
              <a:spcAft>
                <a:spcPts val="0"/>
              </a:spcAft>
              <a:buSzPts val="1400"/>
              <a:buFont typeface="Roboto Medium"/>
              <a:buNone/>
              <a:defRPr>
                <a:latin typeface="Roboto Medium"/>
                <a:ea typeface="Roboto Medium"/>
                <a:cs typeface="Roboto Medium"/>
                <a:sym typeface="Roboto Medium"/>
              </a:defRPr>
            </a:lvl8pPr>
            <a:lvl9pPr lvl="8" rtl="0">
              <a:lnSpc>
                <a:spcPct val="100000"/>
              </a:lnSpc>
              <a:spcBef>
                <a:spcPts val="0"/>
              </a:spcBef>
              <a:spcAft>
                <a:spcPts val="0"/>
              </a:spcAft>
              <a:buSzPts val="1400"/>
              <a:buFont typeface="Roboto Medium"/>
              <a:buNone/>
              <a:defRPr>
                <a:latin typeface="Roboto Medium"/>
                <a:ea typeface="Roboto Medium"/>
                <a:cs typeface="Roboto Medium"/>
                <a:sym typeface="Roboto Medium"/>
              </a:defRPr>
            </a:lvl9pPr>
          </a:lstStyle>
          <a:p>
            <a:endParaRPr/>
          </a:p>
        </p:txBody>
      </p:sp>
      <p:sp>
        <p:nvSpPr>
          <p:cNvPr id="36" name="Google Shape;36;p7"/>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1pPr>
            <a:lvl2pPr lvl="1"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2pPr>
            <a:lvl3pPr lvl="2"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3pPr>
            <a:lvl4pPr lvl="3"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4pPr>
            <a:lvl5pPr lvl="4"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5pPr>
            <a:lvl6pPr lvl="5"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6pPr>
            <a:lvl7pPr lvl="6"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7pPr>
            <a:lvl8pPr lvl="7"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8pPr>
            <a:lvl9pPr lvl="8" rtl="0">
              <a:lnSpc>
                <a:spcPct val="100000"/>
              </a:lnSpc>
              <a:spcBef>
                <a:spcPts val="0"/>
              </a:spcBef>
              <a:spcAft>
                <a:spcPts val="0"/>
              </a:spcAft>
              <a:buSzPts val="3500"/>
              <a:buFont typeface="Playfair Display SemiBold"/>
              <a:buNone/>
              <a:defRPr>
                <a:latin typeface="Playfair Display SemiBold"/>
                <a:ea typeface="Playfair Display SemiBold"/>
                <a:cs typeface="Playfair Display SemiBold"/>
                <a:sym typeface="Playfair Display SemiBold"/>
              </a:defRPr>
            </a:lvl9pPr>
          </a:lstStyle>
          <a:p>
            <a:endParaRPr/>
          </a:p>
        </p:txBody>
      </p:sp>
      <p:sp>
        <p:nvSpPr>
          <p:cNvPr id="37" name="Google Shape;37;p7"/>
          <p:cNvSpPr>
            <a:spLocks noGrp="1"/>
          </p:cNvSpPr>
          <p:nvPr>
            <p:ph type="pic" idx="2"/>
          </p:nvPr>
        </p:nvSpPr>
        <p:spPr>
          <a:xfrm>
            <a:off x="4386550" y="1395075"/>
            <a:ext cx="3800400" cy="3079500"/>
          </a:xfrm>
          <a:prstGeom prst="round1Rect">
            <a:avLst>
              <a:gd name="adj" fmla="val 16949"/>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1"/>
        </a:solidFill>
        <a:effectLst/>
      </p:bgPr>
    </p:bg>
    <p:spTree>
      <p:nvGrpSpPr>
        <p:cNvPr id="1" name="Shape 185"/>
        <p:cNvGrpSpPr/>
        <p:nvPr/>
      </p:nvGrpSpPr>
      <p:grpSpPr>
        <a:xfrm>
          <a:off x="0" y="0"/>
          <a:ext cx="0" cy="0"/>
          <a:chOff x="0" y="0"/>
          <a:chExt cx="0" cy="0"/>
        </a:xfrm>
      </p:grpSpPr>
      <p:sp>
        <p:nvSpPr>
          <p:cNvPr id="186" name="Google Shape;186;p29"/>
          <p:cNvSpPr/>
          <p:nvPr/>
        </p:nvSpPr>
        <p:spPr>
          <a:xfrm flipH="1">
            <a:off x="417900" y="0"/>
            <a:ext cx="8726100" cy="5143500"/>
          </a:xfrm>
          <a:prstGeom prst="round1Rect">
            <a:avLst>
              <a:gd name="adj" fmla="val 125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7"/>
        <p:cNvGrpSpPr/>
        <p:nvPr/>
      </p:nvGrpSpPr>
      <p:grpSpPr>
        <a:xfrm>
          <a:off x="0" y="0"/>
          <a:ext cx="0" cy="0"/>
          <a:chOff x="0" y="0"/>
          <a:chExt cx="0" cy="0"/>
        </a:xfrm>
      </p:grpSpPr>
      <p:sp>
        <p:nvSpPr>
          <p:cNvPr id="188" name="Google Shape;188;p30"/>
          <p:cNvSpPr/>
          <p:nvPr/>
        </p:nvSpPr>
        <p:spPr>
          <a:xfrm>
            <a:off x="0" y="0"/>
            <a:ext cx="8726100" cy="5143500"/>
          </a:xfrm>
          <a:prstGeom prst="round1Rect">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CUSTOM_6">
    <p:bg>
      <p:bgPr>
        <a:solidFill>
          <a:schemeClr val="lt1"/>
        </a:solidFill>
        <a:effectLst/>
      </p:bgPr>
    </p:bg>
    <p:spTree>
      <p:nvGrpSpPr>
        <p:cNvPr id="1" name="Shape 18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500"/>
              <a:buFont typeface="Playfair Display Medium"/>
              <a:buNone/>
              <a:defRPr sz="3500">
                <a:solidFill>
                  <a:schemeClr val="lt1"/>
                </a:solidFill>
                <a:latin typeface="Playfair Display Medium"/>
                <a:ea typeface="Playfair Display Medium"/>
                <a:cs typeface="Playfair Display Medium"/>
                <a:sym typeface="Playfair Display Medium"/>
              </a:defRPr>
            </a:lvl1pPr>
            <a:lvl2pPr lvl="1"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2pPr>
            <a:lvl3pPr lvl="2"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3pPr>
            <a:lvl4pPr lvl="3"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4pPr>
            <a:lvl5pPr lvl="4"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5pPr>
            <a:lvl6pPr lvl="5"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6pPr>
            <a:lvl7pPr lvl="6"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7pPr>
            <a:lvl8pPr lvl="7"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8pPr>
            <a:lvl9pPr lvl="8"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1pPr>
            <a:lvl2pPr marL="914400" lvl="1"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2pPr>
            <a:lvl3pPr marL="1371600" lvl="2"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3pPr>
            <a:lvl4pPr marL="1828800" lvl="3"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4pPr>
            <a:lvl5pPr marL="2286000" lvl="4"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5pPr>
            <a:lvl6pPr marL="2743200" lvl="5"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6pPr>
            <a:lvl7pPr marL="3200400" lvl="6"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7pPr>
            <a:lvl8pPr marL="3657600" lvl="7"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8pPr>
            <a:lvl9pPr marL="4114800" lvl="8"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8" r:id="rId5"/>
    <p:sldLayoutId id="2147483675" r:id="rId6"/>
    <p:sldLayoutId id="2147483676" r:id="rId7"/>
    <p:sldLayoutId id="2147483677"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5"/>
          <p:cNvPicPr preferRelativeResize="0"/>
          <p:nvPr/>
        </p:nvPicPr>
        <p:blipFill rotWithShape="1">
          <a:blip r:embed="rId3">
            <a:alphaModFix/>
          </a:blip>
          <a:srcRect l="23083" r="31564"/>
          <a:stretch/>
        </p:blipFill>
        <p:spPr>
          <a:xfrm>
            <a:off x="0" y="136275"/>
            <a:ext cx="3402600" cy="5007300"/>
          </a:xfrm>
          <a:prstGeom prst="round1Rect">
            <a:avLst>
              <a:gd name="adj" fmla="val 50000"/>
            </a:avLst>
          </a:prstGeom>
          <a:noFill/>
          <a:ln>
            <a:noFill/>
          </a:ln>
        </p:spPr>
      </p:pic>
      <p:sp>
        <p:nvSpPr>
          <p:cNvPr id="201" name="Google Shape;201;p35"/>
          <p:cNvSpPr txBox="1">
            <a:spLocks noGrp="1"/>
          </p:cNvSpPr>
          <p:nvPr>
            <p:ph type="ctrTitle"/>
          </p:nvPr>
        </p:nvSpPr>
        <p:spPr>
          <a:xfrm>
            <a:off x="4108900" y="1266110"/>
            <a:ext cx="4320000" cy="24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Product</a:t>
            </a:r>
            <a:br>
              <a:rPr lang="en" dirty="0"/>
            </a:br>
            <a:r>
              <a:rPr lang="en" dirty="0"/>
              <a:t>Cluster</a:t>
            </a:r>
            <a:br>
              <a:rPr lang="en" dirty="0"/>
            </a:br>
            <a:r>
              <a:rPr lang="en" dirty="0"/>
              <a:t>Analysis</a:t>
            </a:r>
            <a:endParaRPr sz="4000" i="1" dirty="0"/>
          </a:p>
        </p:txBody>
      </p:sp>
      <p:sp>
        <p:nvSpPr>
          <p:cNvPr id="202" name="Google Shape;202;p35"/>
          <p:cNvSpPr txBox="1">
            <a:spLocks noGrp="1"/>
          </p:cNvSpPr>
          <p:nvPr>
            <p:ph type="subTitle" idx="1"/>
          </p:nvPr>
        </p:nvSpPr>
        <p:spPr>
          <a:xfrm>
            <a:off x="4108900" y="3804860"/>
            <a:ext cx="4320000" cy="40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By Rajnish Kashyap</a:t>
            </a:r>
            <a:endParaRPr dirty="0"/>
          </a:p>
        </p:txBody>
      </p:sp>
      <p:cxnSp>
        <p:nvCxnSpPr>
          <p:cNvPr id="203" name="Google Shape;203;p35"/>
          <p:cNvCxnSpPr/>
          <p:nvPr/>
        </p:nvCxnSpPr>
        <p:spPr>
          <a:xfrm>
            <a:off x="3810058" y="1465073"/>
            <a:ext cx="0" cy="2637600"/>
          </a:xfrm>
          <a:prstGeom prst="straightConnector1">
            <a:avLst/>
          </a:prstGeom>
          <a:noFill/>
          <a:ln w="28575" cap="flat" cmpd="sng">
            <a:solidFill>
              <a:schemeClr val="dk2"/>
            </a:solidFill>
            <a:prstDash val="solid"/>
            <a:round/>
            <a:headEnd type="none" w="med" len="med"/>
            <a:tailEnd type="none" w="med" len="med"/>
          </a:ln>
        </p:spPr>
      </p:cxnSp>
      <p:pic>
        <p:nvPicPr>
          <p:cNvPr id="205" name="Google Shape;205;p35"/>
          <p:cNvPicPr preferRelativeResize="0">
            <a:picLocks noGrp="1"/>
          </p:cNvPicPr>
          <p:nvPr>
            <p:ph type="pic" idx="3"/>
          </p:nvPr>
        </p:nvPicPr>
        <p:blipFill rotWithShape="1">
          <a:blip r:embed="rId3">
            <a:alphaModFix/>
          </a:blip>
          <a:srcRect l="23077" r="31564"/>
          <a:stretch/>
        </p:blipFill>
        <p:spPr>
          <a:xfrm>
            <a:off x="0" y="136275"/>
            <a:ext cx="3402600" cy="5007300"/>
          </a:xfrm>
          <a:prstGeom prst="round1Rect">
            <a:avLst>
              <a:gd name="adj" fmla="val 16667"/>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6"/>
          <p:cNvSpPr txBox="1">
            <a:spLocks noGrp="1"/>
          </p:cNvSpPr>
          <p:nvPr>
            <p:ph type="title"/>
          </p:nvPr>
        </p:nvSpPr>
        <p:spPr>
          <a:xfrm>
            <a:off x="7200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tx1"/>
                </a:solidFill>
              </a:rPr>
              <a:t>Table of Contents</a:t>
            </a:r>
            <a:endParaRPr i="1" dirty="0">
              <a:solidFill>
                <a:schemeClr val="tx1"/>
              </a:solidFill>
            </a:endParaRPr>
          </a:p>
        </p:txBody>
      </p:sp>
      <p:graphicFrame>
        <p:nvGraphicFramePr>
          <p:cNvPr id="212" name="Google Shape;212;p36"/>
          <p:cNvGraphicFramePr/>
          <p:nvPr>
            <p:extLst>
              <p:ext uri="{D42A27DB-BD31-4B8C-83A1-F6EECF244321}">
                <p14:modId xmlns:p14="http://schemas.microsoft.com/office/powerpoint/2010/main" val="2285793222"/>
              </p:ext>
            </p:extLst>
          </p:nvPr>
        </p:nvGraphicFramePr>
        <p:xfrm>
          <a:off x="720000" y="1390185"/>
          <a:ext cx="7704000" cy="2689716"/>
        </p:xfrm>
        <a:graphic>
          <a:graphicData uri="http://schemas.openxmlformats.org/drawingml/2006/table">
            <a:tbl>
              <a:tblPr>
                <a:noFill/>
                <a:tableStyleId>{EBFE4A5A-FA2D-48B8-BC70-585E69FCA041}</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448286">
                <a:tc>
                  <a:txBody>
                    <a:bodyPr/>
                    <a:lstStyle/>
                    <a:p>
                      <a:pPr marL="0" lvl="0" indent="0" algn="l" rtl="0">
                        <a:spcBef>
                          <a:spcPts val="0"/>
                        </a:spcBef>
                        <a:spcAft>
                          <a:spcPts val="0"/>
                        </a:spcAft>
                        <a:buNone/>
                      </a:pPr>
                      <a:r>
                        <a:rPr lang="en" sz="1300" dirty="0">
                          <a:solidFill>
                            <a:schemeClr val="dk2"/>
                          </a:solidFill>
                          <a:uFill>
                            <a:noFill/>
                          </a:uFill>
                          <a:latin typeface="Playfair Display SemiBold"/>
                          <a:ea typeface="Playfair Display SemiBold"/>
                          <a:cs typeface="Playfair Display SemiBold"/>
                          <a:sym typeface="Playfair Display SemiBold"/>
                        </a:rPr>
                        <a:t>Introduction</a:t>
                      </a:r>
                      <a:endParaRPr sz="1300" dirty="0">
                        <a:solidFill>
                          <a:schemeClr val="dk2"/>
                        </a:solidFill>
                        <a:latin typeface="Playfair Display SemiBold"/>
                        <a:ea typeface="Playfair Display SemiBold"/>
                        <a:cs typeface="Playfair Display SemiBold"/>
                        <a:sym typeface="Playfair Display SemiBold"/>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1"/>
                    </a:solidFill>
                  </a:tcPr>
                </a:tc>
                <a:tc>
                  <a:txBody>
                    <a:bodyPr/>
                    <a:lstStyle/>
                    <a:p>
                      <a:pPr marL="0" lvl="0" indent="0" algn="l" rtl="0">
                        <a:spcBef>
                          <a:spcPts val="0"/>
                        </a:spcBef>
                        <a:spcAft>
                          <a:spcPts val="1600"/>
                        </a:spcAft>
                        <a:buNone/>
                      </a:pPr>
                      <a:r>
                        <a:rPr lang="en-US" sz="1000" dirty="0"/>
                        <a:t>This project segments products into meaningful clusters based on sales and distribution behavior patterns.</a:t>
                      </a:r>
                      <a:endParaRPr sz="1000" dirty="0">
                        <a:solidFill>
                          <a:schemeClr val="lt1"/>
                        </a:solidFill>
                        <a:latin typeface="Roboto"/>
                        <a:ea typeface="Roboto"/>
                        <a:cs typeface="Roboto"/>
                        <a:sym typeface="Roboto"/>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8286">
                <a:tc>
                  <a:txBody>
                    <a:bodyPr/>
                    <a:lstStyle/>
                    <a:p>
                      <a:pPr marL="0" lvl="0" indent="0" algn="l" rtl="0">
                        <a:spcBef>
                          <a:spcPts val="0"/>
                        </a:spcBef>
                        <a:spcAft>
                          <a:spcPts val="0"/>
                        </a:spcAft>
                        <a:buNone/>
                      </a:pPr>
                      <a:r>
                        <a:rPr lang="en" sz="1300" dirty="0">
                          <a:solidFill>
                            <a:schemeClr val="dk2"/>
                          </a:solidFill>
                          <a:uFill>
                            <a:noFill/>
                          </a:uFill>
                          <a:latin typeface="Playfair Display SemiBold"/>
                          <a:ea typeface="Playfair Display SemiBold"/>
                          <a:cs typeface="Playfair Display SemiBold"/>
                          <a:sym typeface="Playfair Display SemiBold"/>
                        </a:rPr>
                        <a:t>EDA &amp; Data Wrangling</a:t>
                      </a:r>
                      <a:endParaRPr sz="1300" dirty="0">
                        <a:solidFill>
                          <a:schemeClr val="dk2"/>
                        </a:solidFill>
                        <a:latin typeface="Playfair Display SemiBold"/>
                        <a:ea typeface="Playfair Display SemiBold"/>
                        <a:cs typeface="Playfair Display SemiBold"/>
                        <a:sym typeface="Playfair Display SemiBold"/>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1600"/>
                        </a:spcAft>
                        <a:buNone/>
                      </a:pPr>
                      <a:r>
                        <a:rPr lang="en-US" sz="1000" dirty="0"/>
                        <a:t>Explored, cleaned, and transformed raw product data to uncover patterns and prepare for clustering.</a:t>
                      </a:r>
                      <a:endParaRPr sz="1000" dirty="0">
                        <a:solidFill>
                          <a:schemeClr val="lt1"/>
                        </a:solidFill>
                        <a:latin typeface="Roboto"/>
                        <a:ea typeface="Roboto"/>
                        <a:cs typeface="Roboto"/>
                        <a:sym typeface="Roboto"/>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8286">
                <a:tc>
                  <a:txBody>
                    <a:bodyPr/>
                    <a:lstStyle/>
                    <a:p>
                      <a:pPr marL="0" lvl="0" indent="0" algn="l" rtl="0">
                        <a:spcBef>
                          <a:spcPts val="0"/>
                        </a:spcBef>
                        <a:spcAft>
                          <a:spcPts val="0"/>
                        </a:spcAft>
                        <a:buNone/>
                      </a:pPr>
                      <a:r>
                        <a:rPr lang="en" sz="1300" dirty="0">
                          <a:solidFill>
                            <a:schemeClr val="dk2"/>
                          </a:solidFill>
                          <a:uFill>
                            <a:noFill/>
                          </a:uFill>
                          <a:latin typeface="Playfair Display SemiBold"/>
                          <a:ea typeface="Playfair Display SemiBold"/>
                          <a:cs typeface="Playfair Display SemiBold"/>
                          <a:sym typeface="Playfair Display SemiBold"/>
                        </a:rPr>
                        <a:t>Feature Engineering </a:t>
                      </a:r>
                      <a:endParaRPr sz="1300" dirty="0">
                        <a:solidFill>
                          <a:schemeClr val="dk2"/>
                        </a:solidFill>
                        <a:latin typeface="Playfair Display SemiBold"/>
                        <a:ea typeface="Playfair Display SemiBold"/>
                        <a:cs typeface="Playfair Display SemiBold"/>
                        <a:sym typeface="Playfair Display SemiBold"/>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1"/>
                    </a:solidFill>
                  </a:tcPr>
                </a:tc>
                <a:tc>
                  <a:txBody>
                    <a:bodyPr/>
                    <a:lstStyle/>
                    <a:p>
                      <a:pPr marL="0" lvl="0" indent="0" algn="l" rtl="0">
                        <a:spcBef>
                          <a:spcPts val="0"/>
                        </a:spcBef>
                        <a:spcAft>
                          <a:spcPts val="1600"/>
                        </a:spcAft>
                        <a:buNone/>
                      </a:pPr>
                      <a:r>
                        <a:rPr lang="en-US" sz="1000" dirty="0"/>
                        <a:t>Created informative features from sales data to enhance clustering accuracy and pattern discovery.</a:t>
                      </a:r>
                      <a:endParaRPr sz="1000" dirty="0">
                        <a:solidFill>
                          <a:schemeClr val="lt1"/>
                        </a:solidFill>
                        <a:latin typeface="Roboto"/>
                        <a:ea typeface="Roboto"/>
                        <a:cs typeface="Roboto"/>
                        <a:sym typeface="Roboto"/>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48286">
                <a:tc>
                  <a:txBody>
                    <a:bodyPr/>
                    <a:lstStyle/>
                    <a:p>
                      <a:pPr marL="0" lvl="0" indent="0" algn="l" rtl="0">
                        <a:spcBef>
                          <a:spcPts val="0"/>
                        </a:spcBef>
                        <a:spcAft>
                          <a:spcPts val="0"/>
                        </a:spcAft>
                        <a:buNone/>
                      </a:pPr>
                      <a:r>
                        <a:rPr lang="en" sz="1300" dirty="0">
                          <a:solidFill>
                            <a:schemeClr val="dk2"/>
                          </a:solidFill>
                          <a:uFill>
                            <a:noFill/>
                          </a:uFill>
                          <a:latin typeface="Playfair Display SemiBold"/>
                          <a:ea typeface="Playfair Display SemiBold"/>
                          <a:cs typeface="Playfair Display SemiBold"/>
                          <a:sym typeface="Playfair Display SemiBold"/>
                        </a:rPr>
                        <a:t>Model Building</a:t>
                      </a:r>
                      <a:endParaRPr sz="1300" dirty="0">
                        <a:solidFill>
                          <a:schemeClr val="dk2"/>
                        </a:solidFill>
                        <a:latin typeface="Playfair Display SemiBold"/>
                        <a:ea typeface="Playfair Display SemiBold"/>
                        <a:cs typeface="Playfair Display SemiBold"/>
                        <a:sym typeface="Playfair Display SemiBold"/>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1"/>
                    </a:solidFill>
                  </a:tcPr>
                </a:tc>
                <a:tc>
                  <a:txBody>
                    <a:bodyPr/>
                    <a:lstStyle/>
                    <a:p>
                      <a:pPr marL="0" lvl="0" indent="0" algn="l" rtl="0">
                        <a:spcBef>
                          <a:spcPts val="0"/>
                        </a:spcBef>
                        <a:spcAft>
                          <a:spcPts val="1600"/>
                        </a:spcAft>
                        <a:buNone/>
                      </a:pPr>
                      <a:r>
                        <a:rPr lang="en-US" sz="1000" dirty="0"/>
                        <a:t>Implemented </a:t>
                      </a:r>
                      <a:r>
                        <a:rPr lang="en-US" sz="1000" dirty="0" err="1"/>
                        <a:t>KMeans</a:t>
                      </a:r>
                      <a:r>
                        <a:rPr lang="en-US" sz="1000" dirty="0"/>
                        <a:t>, DBSCAN, and Agglomerative Clustering to identify natural groupings within product data.</a:t>
                      </a:r>
                      <a:endParaRPr sz="1000" dirty="0">
                        <a:solidFill>
                          <a:schemeClr val="lt1"/>
                        </a:solidFill>
                        <a:latin typeface="Roboto"/>
                        <a:ea typeface="Roboto"/>
                        <a:cs typeface="Roboto"/>
                        <a:sym typeface="Roboto"/>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48286">
                <a:tc>
                  <a:txBody>
                    <a:bodyPr/>
                    <a:lstStyle/>
                    <a:p>
                      <a:pPr marL="0" lvl="0" indent="0" algn="l" rtl="0">
                        <a:spcBef>
                          <a:spcPts val="0"/>
                        </a:spcBef>
                        <a:spcAft>
                          <a:spcPts val="0"/>
                        </a:spcAft>
                        <a:buNone/>
                      </a:pPr>
                      <a:r>
                        <a:rPr lang="en" sz="1300" dirty="0">
                          <a:solidFill>
                            <a:schemeClr val="dk2"/>
                          </a:solidFill>
                          <a:uFill>
                            <a:noFill/>
                          </a:uFill>
                          <a:latin typeface="Playfair Display SemiBold"/>
                          <a:ea typeface="Playfair Display SemiBold"/>
                          <a:cs typeface="Playfair Display SemiBold"/>
                          <a:sym typeface="Playfair Display SemiBold"/>
                        </a:rPr>
                        <a:t>Evaluation</a:t>
                      </a:r>
                      <a:endParaRPr sz="1300" dirty="0">
                        <a:solidFill>
                          <a:schemeClr val="dk2"/>
                        </a:solidFill>
                        <a:latin typeface="Playfair Display SemiBold"/>
                        <a:ea typeface="Playfair Display SemiBold"/>
                        <a:cs typeface="Playfair Display SemiBold"/>
                        <a:sym typeface="Playfair Display SemiBold"/>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US" sz="1000" dirty="0"/>
                        <a:t>Evaluated clustering performance using Silhouette Score, </a:t>
                      </a:r>
                      <a:r>
                        <a:rPr lang="en-US" sz="1000" dirty="0" err="1"/>
                        <a:t>Calinski-Harabasz</a:t>
                      </a:r>
                      <a:r>
                        <a:rPr lang="en-US" sz="1000" dirty="0"/>
                        <a:t> Index, and Davies-Bouldin Index.</a:t>
                      </a:r>
                      <a:endParaRPr sz="1000" dirty="0">
                        <a:solidFill>
                          <a:schemeClr val="lt1"/>
                        </a:solidFill>
                        <a:latin typeface="Roboto"/>
                        <a:ea typeface="Roboto"/>
                        <a:cs typeface="Roboto"/>
                        <a:sym typeface="Roboto"/>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48286">
                <a:tc>
                  <a:txBody>
                    <a:bodyPr/>
                    <a:lstStyle/>
                    <a:p>
                      <a:pPr marL="0" lvl="0" indent="0" algn="l" rtl="0">
                        <a:spcBef>
                          <a:spcPts val="0"/>
                        </a:spcBef>
                        <a:spcAft>
                          <a:spcPts val="0"/>
                        </a:spcAft>
                        <a:buNone/>
                      </a:pPr>
                      <a:r>
                        <a:rPr lang="en-IN" sz="1300" dirty="0">
                          <a:solidFill>
                            <a:schemeClr val="dk2"/>
                          </a:solidFill>
                          <a:latin typeface="Playfair Display SemiBold"/>
                          <a:ea typeface="Playfair Display SemiBold"/>
                          <a:cs typeface="Playfair Display SemiBold"/>
                          <a:sym typeface="Playfair Display SemiBold"/>
                        </a:rPr>
                        <a:t>Finalization</a:t>
                      </a:r>
                      <a:endParaRPr sz="1300" dirty="0">
                        <a:solidFill>
                          <a:schemeClr val="dk2"/>
                        </a:solidFill>
                        <a:latin typeface="Playfair Display SemiBold"/>
                        <a:ea typeface="Playfair Display SemiBold"/>
                        <a:cs typeface="Playfair Display SemiBold"/>
                        <a:sym typeface="Playfair Display SemiBold"/>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dk1"/>
                    </a:solidFill>
                  </a:tcPr>
                </a:tc>
                <a:tc>
                  <a:txBody>
                    <a:bodyPr/>
                    <a:lstStyle/>
                    <a:p>
                      <a:pPr marL="0" lvl="0" indent="0" algn="l" rtl="0">
                        <a:spcBef>
                          <a:spcPts val="0"/>
                        </a:spcBef>
                        <a:spcAft>
                          <a:spcPts val="1600"/>
                        </a:spcAft>
                        <a:buNone/>
                      </a:pPr>
                      <a:r>
                        <a:rPr lang="en-US" sz="1000" dirty="0"/>
                        <a:t>Finalized Agglomerative Clustering based on evaluation results and visualized clusters using PCA projection.</a:t>
                      </a:r>
                      <a:endParaRPr sz="1000" b="1" dirty="0">
                        <a:solidFill>
                          <a:schemeClr val="lt1"/>
                        </a:solidFill>
                        <a:latin typeface="Roboto"/>
                        <a:ea typeface="Roboto"/>
                        <a:cs typeface="Roboto"/>
                        <a:sym typeface="Roboto"/>
                      </a:endParaRPr>
                    </a:p>
                  </a:txBody>
                  <a:tcPr marL="91425" marR="91425" marT="0" marB="0" anchor="ctr">
                    <a:lnL w="19050" cap="flat" cmpd="sng">
                      <a:solidFill>
                        <a:schemeClr val="dk2"/>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8"/>
          <p:cNvSpPr txBox="1">
            <a:spLocks noGrp="1"/>
          </p:cNvSpPr>
          <p:nvPr>
            <p:ph type="title"/>
          </p:nvPr>
        </p:nvSpPr>
        <p:spPr>
          <a:xfrm>
            <a:off x="3397990" y="1536713"/>
            <a:ext cx="49374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245" name="Google Shape;245;p38"/>
          <p:cNvSpPr txBox="1">
            <a:spLocks noGrp="1"/>
          </p:cNvSpPr>
          <p:nvPr>
            <p:ph type="subTitle" idx="1"/>
          </p:nvPr>
        </p:nvSpPr>
        <p:spPr>
          <a:xfrm>
            <a:off x="3332175" y="2297151"/>
            <a:ext cx="4937400" cy="2029522"/>
          </a:xfrm>
          <a:prstGeom prst="rect">
            <a:avLst/>
          </a:prstGeom>
        </p:spPr>
        <p:txBody>
          <a:bodyPr spcFirstLastPara="1" wrap="square" lIns="91425" tIns="91425" rIns="91425" bIns="91425" anchor="b" anchorCtr="0">
            <a:noAutofit/>
          </a:bodyPr>
          <a:lstStyle/>
          <a:p>
            <a:r>
              <a:rPr lang="en-US" sz="1400" dirty="0">
                <a:latin typeface="Aptos" panose="020B0004020202020204" pitchFamily="34" charset="0"/>
              </a:rPr>
              <a:t>This project applies unsupervised machine</a:t>
            </a:r>
          </a:p>
          <a:p>
            <a:r>
              <a:rPr lang="en-US" sz="1400" dirty="0">
                <a:latin typeface="Aptos" panose="020B0004020202020204" pitchFamily="34" charset="0"/>
              </a:rPr>
              <a:t>learning to group similar products based on</a:t>
            </a:r>
          </a:p>
          <a:p>
            <a:r>
              <a:rPr lang="en-US" sz="1400" dirty="0">
                <a:latin typeface="Aptos" panose="020B0004020202020204" pitchFamily="34" charset="0"/>
              </a:rPr>
              <a:t>historical sales data. By identifying product</a:t>
            </a:r>
          </a:p>
          <a:p>
            <a:r>
              <a:rPr lang="en-US" sz="1400" dirty="0">
                <a:latin typeface="Aptos" panose="020B0004020202020204" pitchFamily="34" charset="0"/>
              </a:rPr>
              <a:t>clusters, businesses can:</a:t>
            </a:r>
          </a:p>
          <a:p>
            <a:r>
              <a:rPr lang="en-US" sz="1400" dirty="0">
                <a:latin typeface="Aptos" panose="020B0004020202020204" pitchFamily="34" charset="0"/>
              </a:rPr>
              <a:t>-&gt; Optimize inventory and stock management</a:t>
            </a:r>
          </a:p>
          <a:p>
            <a:r>
              <a:rPr lang="en-US" sz="1400" dirty="0">
                <a:latin typeface="Aptos" panose="020B0004020202020204" pitchFamily="34" charset="0"/>
              </a:rPr>
              <a:t>-&gt; Tailor promotions and marketing by segment</a:t>
            </a:r>
          </a:p>
          <a:p>
            <a:r>
              <a:rPr lang="en-US" sz="1400" dirty="0">
                <a:latin typeface="Aptos" panose="020B0004020202020204" pitchFamily="34" charset="0"/>
              </a:rPr>
              <a:t>-&gt; Enhance forecasting and operational efficiency</a:t>
            </a:r>
            <a:endParaRPr lang="en-US" dirty="0">
              <a:latin typeface="Aptos" panose="020B0004020202020204" pitchFamily="34" charset="0"/>
            </a:endParaRPr>
          </a:p>
          <a:p>
            <a:pPr marL="0" lvl="0" indent="0" algn="l" rtl="0">
              <a:spcBef>
                <a:spcPts val="0"/>
              </a:spcBef>
              <a:spcAft>
                <a:spcPts val="0"/>
              </a:spcAft>
              <a:buNone/>
            </a:pPr>
            <a:endParaRPr lang="en-US" dirty="0"/>
          </a:p>
        </p:txBody>
      </p:sp>
      <p:sp>
        <p:nvSpPr>
          <p:cNvPr id="246" name="Google Shape;246;p38"/>
          <p:cNvSpPr txBox="1">
            <a:spLocks noGrp="1"/>
          </p:cNvSpPr>
          <p:nvPr>
            <p:ph type="title" idx="2"/>
          </p:nvPr>
        </p:nvSpPr>
        <p:spPr>
          <a:xfrm>
            <a:off x="3397990" y="941033"/>
            <a:ext cx="1192500" cy="46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cxnSp>
        <p:nvCxnSpPr>
          <p:cNvPr id="247" name="Google Shape;247;p38"/>
          <p:cNvCxnSpPr>
            <a:cxnSpLocks/>
          </p:cNvCxnSpPr>
          <p:nvPr/>
        </p:nvCxnSpPr>
        <p:spPr>
          <a:xfrm>
            <a:off x="3332175" y="1766220"/>
            <a:ext cx="0" cy="2344863"/>
          </a:xfrm>
          <a:prstGeom prst="straightConnector1">
            <a:avLst/>
          </a:prstGeom>
          <a:noFill/>
          <a:ln w="28575" cap="flat" cmpd="sng">
            <a:solidFill>
              <a:schemeClr val="dk2"/>
            </a:solidFill>
            <a:prstDash val="solid"/>
            <a:round/>
            <a:headEnd type="none" w="med" len="med"/>
            <a:tailEnd type="none" w="med" len="med"/>
          </a:ln>
        </p:spPr>
      </p:cxnSp>
      <p:pic>
        <p:nvPicPr>
          <p:cNvPr id="249" name="Google Shape;249;p38"/>
          <p:cNvPicPr preferRelativeResize="0">
            <a:picLocks noGrp="1"/>
          </p:cNvPicPr>
          <p:nvPr>
            <p:ph type="pic" idx="4"/>
          </p:nvPr>
        </p:nvPicPr>
        <p:blipFill rotWithShape="1">
          <a:blip r:embed="rId3">
            <a:alphaModFix/>
          </a:blip>
          <a:srcRect t="961" b="951"/>
          <a:stretch/>
        </p:blipFill>
        <p:spPr>
          <a:xfrm>
            <a:off x="0" y="480215"/>
            <a:ext cx="3168900" cy="4663500"/>
          </a:xfrm>
          <a:prstGeom prst="round1Rect">
            <a:avLst>
              <a:gd name="adj" fmla="val 16667"/>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a:spLocks noGrp="1"/>
          </p:cNvSpPr>
          <p:nvPr>
            <p:ph type="subTitle" idx="1"/>
          </p:nvPr>
        </p:nvSpPr>
        <p:spPr>
          <a:xfrm>
            <a:off x="877213" y="1395075"/>
            <a:ext cx="3113700" cy="2757397"/>
          </a:xfrm>
          <a:prstGeom prst="rect">
            <a:avLst/>
          </a:prstGeom>
        </p:spPr>
        <p:txBody>
          <a:bodyPr spcFirstLastPara="1" wrap="square" lIns="91425" tIns="91425" rIns="91425" bIns="91425" anchor="b" anchorCtr="0">
            <a:noAutofit/>
          </a:bodyPr>
          <a:lstStyle/>
          <a:p>
            <a:pPr algn="l"/>
            <a:r>
              <a:rPr lang="en-US" b="1" dirty="0">
                <a:solidFill>
                  <a:schemeClr val="tx1"/>
                </a:solidFill>
                <a:latin typeface="Aptos" panose="020B0004020202020204" pitchFamily="34" charset="0"/>
              </a:rPr>
              <a:t>Problem</a:t>
            </a:r>
          </a:p>
          <a:p>
            <a:pPr algn="l"/>
            <a:r>
              <a:rPr lang="en-US" dirty="0">
                <a:latin typeface="Aptos" panose="020B0004020202020204" pitchFamily="34" charset="0"/>
              </a:rPr>
              <a:t>Businesses manage diverse</a:t>
            </a:r>
          </a:p>
          <a:p>
            <a:pPr algn="l"/>
            <a:r>
              <a:rPr lang="en-US" dirty="0">
                <a:latin typeface="Aptos" panose="020B0004020202020204" pitchFamily="34" charset="0"/>
              </a:rPr>
              <a:t>products with varying sales behavior</a:t>
            </a:r>
          </a:p>
          <a:p>
            <a:pPr algn="l"/>
            <a:r>
              <a:rPr lang="en-US" dirty="0">
                <a:latin typeface="Aptos" panose="020B0004020202020204" pitchFamily="34" charset="0"/>
              </a:rPr>
              <a:t>and demand cycles.</a:t>
            </a:r>
          </a:p>
          <a:p>
            <a:pPr algn="l"/>
            <a:r>
              <a:rPr lang="en-US" dirty="0">
                <a:latin typeface="Aptos" panose="020B0004020202020204" pitchFamily="34" charset="0"/>
              </a:rPr>
              <a:t>Without clustering, this leads to:</a:t>
            </a:r>
          </a:p>
          <a:p>
            <a:pPr algn="l"/>
            <a:r>
              <a:rPr lang="en-US" dirty="0">
                <a:latin typeface="Aptos" panose="020B0004020202020204" pitchFamily="34" charset="0"/>
              </a:rPr>
              <a:t>➤ Inefficient inventory planning</a:t>
            </a:r>
          </a:p>
          <a:p>
            <a:pPr algn="l"/>
            <a:r>
              <a:rPr lang="en-US" dirty="0">
                <a:latin typeface="Aptos" panose="020B0004020202020204" pitchFamily="34" charset="0"/>
              </a:rPr>
              <a:t>➤ Poorly targeted marketing</a:t>
            </a:r>
          </a:p>
          <a:p>
            <a:pPr algn="l"/>
            <a:r>
              <a:rPr lang="en-US" dirty="0">
                <a:latin typeface="Aptos" panose="020B0004020202020204" pitchFamily="34" charset="0"/>
              </a:rPr>
              <a:t>➤ Missed revenue optimization</a:t>
            </a:r>
          </a:p>
          <a:p>
            <a:pPr algn="l"/>
            <a:r>
              <a:rPr lang="en-US" dirty="0">
                <a:latin typeface="Aptos" panose="020B0004020202020204" pitchFamily="34" charset="0"/>
              </a:rPr>
              <a:t>Opportunities</a:t>
            </a:r>
          </a:p>
          <a:p>
            <a:pPr marL="0" lvl="0" indent="0" algn="l" rtl="0">
              <a:spcBef>
                <a:spcPts val="0"/>
              </a:spcBef>
              <a:spcAft>
                <a:spcPts val="0"/>
              </a:spcAft>
              <a:buNone/>
            </a:pPr>
            <a:endParaRPr dirty="0">
              <a:latin typeface="Aptos" panose="020B0004020202020204" pitchFamily="34" charset="0"/>
            </a:endParaRPr>
          </a:p>
        </p:txBody>
      </p:sp>
      <p:sp>
        <p:nvSpPr>
          <p:cNvPr id="255" name="Google Shape;255;p39"/>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Problem &amp; Objective</a:t>
            </a:r>
            <a:endParaRPr i="1" dirty="0">
              <a:solidFill>
                <a:schemeClr val="tx1"/>
              </a:solidFill>
            </a:endParaRPr>
          </a:p>
        </p:txBody>
      </p:sp>
      <p:cxnSp>
        <p:nvCxnSpPr>
          <p:cNvPr id="256" name="Google Shape;256;p39"/>
          <p:cNvCxnSpPr>
            <a:cxnSpLocks/>
          </p:cNvCxnSpPr>
          <p:nvPr/>
        </p:nvCxnSpPr>
        <p:spPr>
          <a:xfrm>
            <a:off x="4182975" y="1395075"/>
            <a:ext cx="0" cy="307951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Google Shape;254;p39">
            <a:extLst>
              <a:ext uri="{FF2B5EF4-FFF2-40B4-BE49-F238E27FC236}">
                <a16:creationId xmlns:a16="http://schemas.microsoft.com/office/drawing/2014/main" id="{173AE454-DCB7-B58F-9C41-2903BC2E2FF0}"/>
              </a:ext>
            </a:extLst>
          </p:cNvPr>
          <p:cNvSpPr txBox="1">
            <a:spLocks/>
          </p:cNvSpPr>
          <p:nvPr/>
        </p:nvSpPr>
        <p:spPr>
          <a:xfrm>
            <a:off x="4567100" y="1556135"/>
            <a:ext cx="3113700" cy="27573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a:ea typeface="Roboto"/>
                <a:cs typeface="Roboto"/>
                <a:sym typeface="Roboto"/>
              </a:defRPr>
            </a:lvl1pPr>
            <a:lvl2pPr marL="914400" marR="0" lvl="1"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2pPr>
            <a:lvl3pPr marL="1371600" marR="0" lvl="2"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3pPr>
            <a:lvl4pPr marL="1828800" marR="0" lvl="3"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4pPr>
            <a:lvl5pPr marL="2286000" marR="0" lvl="4"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5pPr>
            <a:lvl6pPr marL="2743200" marR="0" lvl="5"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6pPr>
            <a:lvl7pPr marL="3200400" marR="0" lvl="6"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7pPr>
            <a:lvl8pPr marL="3657600" marR="0" lvl="7"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8pPr>
            <a:lvl9pPr marL="4114800" marR="0" lvl="8" indent="-317500" algn="l" rtl="0">
              <a:lnSpc>
                <a:spcPct val="100000"/>
              </a:lnSpc>
              <a:spcBef>
                <a:spcPts val="0"/>
              </a:spcBef>
              <a:spcAft>
                <a:spcPts val="0"/>
              </a:spcAft>
              <a:buClr>
                <a:schemeClr val="lt1"/>
              </a:buClr>
              <a:buSzPts val="1400"/>
              <a:buFont typeface="Roboto Medium"/>
              <a:buNone/>
              <a:defRPr sz="1400" b="0" i="0" u="none" strike="noStrike" cap="none">
                <a:solidFill>
                  <a:schemeClr val="lt1"/>
                </a:solidFill>
                <a:latin typeface="Roboto Medium"/>
                <a:ea typeface="Roboto Medium"/>
                <a:cs typeface="Roboto Medium"/>
                <a:sym typeface="Roboto Medium"/>
              </a:defRPr>
            </a:lvl9pPr>
          </a:lstStyle>
          <a:p>
            <a:pPr>
              <a:buNone/>
            </a:pPr>
            <a:endParaRPr lang="en-US" b="1" dirty="0"/>
          </a:p>
          <a:p>
            <a:pPr algn="l">
              <a:buNone/>
            </a:pPr>
            <a:r>
              <a:rPr lang="en-US" b="1" dirty="0">
                <a:solidFill>
                  <a:schemeClr val="tx1"/>
                </a:solidFill>
                <a:latin typeface="Aptos" panose="020B0004020202020204" pitchFamily="34" charset="0"/>
              </a:rPr>
              <a:t>Objective</a:t>
            </a:r>
          </a:p>
          <a:p>
            <a:pPr algn="l"/>
            <a:r>
              <a:rPr lang="en-US" dirty="0">
                <a:latin typeface="Aptos" panose="020B0004020202020204" pitchFamily="34" charset="0"/>
              </a:rPr>
              <a:t>Group similar products using</a:t>
            </a:r>
          </a:p>
          <a:p>
            <a:pPr algn="l"/>
            <a:r>
              <a:rPr lang="en-US" dirty="0">
                <a:latin typeface="Aptos" panose="020B0004020202020204" pitchFamily="34" charset="0"/>
              </a:rPr>
              <a:t>clustering techniques to:</a:t>
            </a:r>
          </a:p>
          <a:p>
            <a:pPr algn="l"/>
            <a:r>
              <a:rPr lang="en-US" dirty="0">
                <a:latin typeface="Aptos" panose="020B0004020202020204" pitchFamily="34" charset="0"/>
              </a:rPr>
              <a:t>➤ Improve stock management and</a:t>
            </a:r>
          </a:p>
          <a:p>
            <a:pPr algn="l"/>
            <a:r>
              <a:rPr lang="en-US" dirty="0">
                <a:latin typeface="Aptos" panose="020B0004020202020204" pitchFamily="34" charset="0"/>
              </a:rPr>
              <a:t>forecasting</a:t>
            </a:r>
          </a:p>
          <a:p>
            <a:pPr algn="l"/>
            <a:r>
              <a:rPr lang="en-US" dirty="0">
                <a:latin typeface="Aptos" panose="020B0004020202020204" pitchFamily="34" charset="0"/>
              </a:rPr>
              <a:t>➤ Enable segment-based</a:t>
            </a:r>
          </a:p>
          <a:p>
            <a:pPr algn="l"/>
            <a:r>
              <a:rPr lang="en-US" dirty="0">
                <a:latin typeface="Aptos" panose="020B0004020202020204" pitchFamily="34" charset="0"/>
              </a:rPr>
              <a:t>promotions and bundling</a:t>
            </a:r>
          </a:p>
          <a:p>
            <a:pPr algn="l"/>
            <a:r>
              <a:rPr lang="en-US" dirty="0">
                <a:latin typeface="Aptos" panose="020B0004020202020204" pitchFamily="34" charset="0"/>
              </a:rPr>
              <a:t>➤ Support strategic product</a:t>
            </a:r>
          </a:p>
          <a:p>
            <a:pPr algn="l"/>
            <a:r>
              <a:rPr lang="en-US" dirty="0">
                <a:latin typeface="Aptos" panose="020B0004020202020204" pitchFamily="34" charset="0"/>
              </a:rPr>
              <a:t>decisions with data</a:t>
            </a:r>
          </a:p>
          <a:p>
            <a:pPr algn="l"/>
            <a:endParaRPr lang="en-US" dirty="0">
              <a:latin typeface="Aptos" panose="020B0004020202020204" pitchFamily="34" charset="0"/>
            </a:endParaRPr>
          </a:p>
          <a:p>
            <a:pPr marL="0" indent="0" algn="l"/>
            <a:endParaRPr lang="en-US"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64CEC79E-FD14-9763-6E27-07056208BCD6}"/>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D4E0B5E2-7C9A-2829-5B38-A54914F065AC}"/>
              </a:ext>
            </a:extLst>
          </p:cNvPr>
          <p:cNvSpPr txBox="1">
            <a:spLocks noGrp="1"/>
          </p:cNvSpPr>
          <p:nvPr>
            <p:ph type="title"/>
          </p:nvPr>
        </p:nvSpPr>
        <p:spPr>
          <a:xfrm>
            <a:off x="715100" y="528737"/>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Dataset Overview</a:t>
            </a:r>
            <a:endParaRPr i="1" dirty="0">
              <a:solidFill>
                <a:schemeClr val="tx1"/>
              </a:solidFill>
            </a:endParaRPr>
          </a:p>
        </p:txBody>
      </p:sp>
      <p:cxnSp>
        <p:nvCxnSpPr>
          <p:cNvPr id="256" name="Google Shape;256;p39">
            <a:extLst>
              <a:ext uri="{FF2B5EF4-FFF2-40B4-BE49-F238E27FC236}">
                <a16:creationId xmlns:a16="http://schemas.microsoft.com/office/drawing/2014/main" id="{2FC9955C-C5F7-6150-7C39-DF92C0184EA1}"/>
              </a:ext>
            </a:extLst>
          </p:cNvPr>
          <p:cNvCxnSpPr>
            <a:cxnSpLocks/>
          </p:cNvCxnSpPr>
          <p:nvPr/>
        </p:nvCxnSpPr>
        <p:spPr>
          <a:xfrm>
            <a:off x="830174" y="3114907"/>
            <a:ext cx="0" cy="1751223"/>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6BC9AEC7-F8F2-C207-C749-563BB125F018}"/>
              </a:ext>
            </a:extLst>
          </p:cNvPr>
          <p:cNvPicPr>
            <a:picLocks noChangeAspect="1"/>
          </p:cNvPicPr>
          <p:nvPr/>
        </p:nvPicPr>
        <p:blipFill>
          <a:blip r:embed="rId3"/>
          <a:stretch>
            <a:fillRect/>
          </a:stretch>
        </p:blipFill>
        <p:spPr>
          <a:xfrm>
            <a:off x="715100" y="1221213"/>
            <a:ext cx="8162692" cy="1893694"/>
          </a:xfrm>
          <a:prstGeom prst="rect">
            <a:avLst/>
          </a:prstGeom>
        </p:spPr>
      </p:pic>
      <p:sp>
        <p:nvSpPr>
          <p:cNvPr id="9" name="TextBox 8">
            <a:extLst>
              <a:ext uri="{FF2B5EF4-FFF2-40B4-BE49-F238E27FC236}">
                <a16:creationId xmlns:a16="http://schemas.microsoft.com/office/drawing/2014/main" id="{70A947F1-6121-454F-C8D3-23CA04DD891A}"/>
              </a:ext>
            </a:extLst>
          </p:cNvPr>
          <p:cNvSpPr txBox="1"/>
          <p:nvPr/>
        </p:nvSpPr>
        <p:spPr>
          <a:xfrm>
            <a:off x="830174" y="3055150"/>
            <a:ext cx="7626012" cy="738664"/>
          </a:xfrm>
          <a:prstGeom prst="rect">
            <a:avLst/>
          </a:prstGeom>
          <a:noFill/>
        </p:spPr>
        <p:txBody>
          <a:bodyPr wrap="square" rtlCol="0">
            <a:spAutoFit/>
          </a:bodyPr>
          <a:lstStyle/>
          <a:p>
            <a:r>
              <a:rPr lang="en-US" b="1" dirty="0">
                <a:solidFill>
                  <a:schemeClr val="tx1"/>
                </a:solidFill>
                <a:latin typeface="Aptos" panose="020B0004020202020204" pitchFamily="34" charset="0"/>
              </a:rPr>
              <a:t>Shape</a:t>
            </a:r>
            <a:r>
              <a:rPr lang="en-US" b="1" dirty="0">
                <a:latin typeface="Aptos" panose="020B0004020202020204" pitchFamily="34" charset="0"/>
              </a:rPr>
              <a:t>:</a:t>
            </a:r>
            <a:r>
              <a:rPr lang="en-US" dirty="0">
                <a:latin typeface="Aptos" panose="020B0004020202020204" pitchFamily="34" charset="0"/>
              </a:rPr>
              <a:t> 307,645 rows × 9 columns</a:t>
            </a:r>
          </a:p>
          <a:p>
            <a:r>
              <a:rPr lang="en-US" b="1" dirty="0">
                <a:solidFill>
                  <a:schemeClr val="tx1"/>
                </a:solidFill>
                <a:latin typeface="Aptos" panose="020B0004020202020204" pitchFamily="34" charset="0"/>
              </a:rPr>
              <a:t>Key</a:t>
            </a:r>
            <a:r>
              <a:rPr lang="en-US" b="1" dirty="0">
                <a:latin typeface="Aptos" panose="020B0004020202020204" pitchFamily="34" charset="0"/>
              </a:rPr>
              <a:t> </a:t>
            </a:r>
            <a:r>
              <a:rPr lang="en-US" b="1" dirty="0">
                <a:solidFill>
                  <a:schemeClr val="tx1"/>
                </a:solidFill>
                <a:latin typeface="Aptos" panose="020B0004020202020204" pitchFamily="34" charset="0"/>
              </a:rPr>
              <a:t>Columns</a:t>
            </a:r>
            <a:r>
              <a:rPr lang="en-US" b="1" dirty="0">
                <a:latin typeface="Aptos" panose="020B0004020202020204" pitchFamily="34" charset="0"/>
              </a:rPr>
              <a:t>:</a:t>
            </a:r>
            <a:r>
              <a:rPr lang="en-US" dirty="0">
                <a:latin typeface="Aptos" panose="020B0004020202020204" pitchFamily="34" charset="0"/>
              </a:rPr>
              <a:t> Sales metrics (RETAIL SALES, RETAIL TRANSFERS, WAREHOUSE SALES), item details, and date info</a:t>
            </a:r>
            <a:endParaRPr lang="en-IN" dirty="0">
              <a:latin typeface="Aptos" panose="020B0004020202020204" pitchFamily="34" charset="0"/>
            </a:endParaRPr>
          </a:p>
        </p:txBody>
      </p:sp>
      <p:sp>
        <p:nvSpPr>
          <p:cNvPr id="10" name="TextBox 9">
            <a:extLst>
              <a:ext uri="{FF2B5EF4-FFF2-40B4-BE49-F238E27FC236}">
                <a16:creationId xmlns:a16="http://schemas.microsoft.com/office/drawing/2014/main" id="{4818CF8F-BF3E-333B-3A69-7A0442CA1915}"/>
              </a:ext>
            </a:extLst>
          </p:cNvPr>
          <p:cNvSpPr txBox="1"/>
          <p:nvPr/>
        </p:nvSpPr>
        <p:spPr>
          <a:xfrm>
            <a:off x="830174" y="3853571"/>
            <a:ext cx="7626012" cy="1169551"/>
          </a:xfrm>
          <a:prstGeom prst="rect">
            <a:avLst/>
          </a:prstGeom>
          <a:noFill/>
        </p:spPr>
        <p:txBody>
          <a:bodyPr wrap="square" rtlCol="0">
            <a:spAutoFit/>
          </a:bodyPr>
          <a:lstStyle/>
          <a:p>
            <a:r>
              <a:rPr lang="en-US" b="1" dirty="0">
                <a:solidFill>
                  <a:schemeClr val="tx1"/>
                </a:solidFill>
                <a:latin typeface="Aptos" panose="020B0004020202020204" pitchFamily="34" charset="0"/>
              </a:rPr>
              <a:t>Observations:</a:t>
            </a:r>
          </a:p>
          <a:p>
            <a:r>
              <a:rPr lang="en-US" dirty="0">
                <a:latin typeface="Aptos" panose="020B0004020202020204" pitchFamily="34" charset="0"/>
              </a:rPr>
              <a:t>➤ Sales data is highly skewed with extreme values</a:t>
            </a:r>
          </a:p>
          <a:p>
            <a:r>
              <a:rPr lang="en-US" dirty="0">
                <a:latin typeface="Aptos" panose="020B0004020202020204" pitchFamily="34" charset="0"/>
              </a:rPr>
              <a:t>➤ Negative sales values may indicate returns or data issues</a:t>
            </a:r>
          </a:p>
          <a:p>
            <a:r>
              <a:rPr lang="en-US" dirty="0">
                <a:latin typeface="Aptos" panose="020B0004020202020204" pitchFamily="34" charset="0"/>
              </a:rPr>
              <a:t>➤ Retail Transfers are sparse, often zero</a:t>
            </a:r>
          </a:p>
          <a:p>
            <a:r>
              <a:rPr lang="en-US" dirty="0">
                <a:latin typeface="Aptos" panose="020B0004020202020204" pitchFamily="34" charset="0"/>
              </a:rPr>
              <a:t>➤ Covers multiple suppliers and product types</a:t>
            </a:r>
            <a:endParaRPr lang="en-IN" dirty="0">
              <a:latin typeface="Aptos" panose="020B0004020202020204" pitchFamily="34" charset="0"/>
            </a:endParaRPr>
          </a:p>
        </p:txBody>
      </p:sp>
      <p:cxnSp>
        <p:nvCxnSpPr>
          <p:cNvPr id="11" name="Google Shape;256;p39">
            <a:extLst>
              <a:ext uri="{FF2B5EF4-FFF2-40B4-BE49-F238E27FC236}">
                <a16:creationId xmlns:a16="http://schemas.microsoft.com/office/drawing/2014/main" id="{CD6138FE-3D29-EFD4-96AC-A9EE237B72A6}"/>
              </a:ext>
            </a:extLst>
          </p:cNvPr>
          <p:cNvCxnSpPr>
            <a:cxnSpLocks/>
          </p:cNvCxnSpPr>
          <p:nvPr/>
        </p:nvCxnSpPr>
        <p:spPr>
          <a:xfrm>
            <a:off x="830174" y="3807383"/>
            <a:ext cx="6414402"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66650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4E5FA06F-2956-778C-35E9-F289A8C6FFA7}"/>
            </a:ext>
          </a:extLst>
        </p:cNvPr>
        <p:cNvGrpSpPr/>
        <p:nvPr/>
      </p:nvGrpSpPr>
      <p:grpSpPr>
        <a:xfrm>
          <a:off x="0" y="0"/>
          <a:ext cx="0" cy="0"/>
          <a:chOff x="0" y="0"/>
          <a:chExt cx="0" cy="0"/>
        </a:xfrm>
      </p:grpSpPr>
      <p:sp>
        <p:nvSpPr>
          <p:cNvPr id="244" name="Google Shape;244;p38">
            <a:extLst>
              <a:ext uri="{FF2B5EF4-FFF2-40B4-BE49-F238E27FC236}">
                <a16:creationId xmlns:a16="http://schemas.microsoft.com/office/drawing/2014/main" id="{6B02929E-110C-7AA5-24CC-A49E17ABB092}"/>
              </a:ext>
            </a:extLst>
          </p:cNvPr>
          <p:cNvSpPr txBox="1">
            <a:spLocks noGrp="1"/>
          </p:cNvSpPr>
          <p:nvPr>
            <p:ph type="title"/>
          </p:nvPr>
        </p:nvSpPr>
        <p:spPr>
          <a:xfrm>
            <a:off x="3397990" y="1536713"/>
            <a:ext cx="49374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EDA &amp; Data Wrangling</a:t>
            </a:r>
            <a:endParaRPr dirty="0"/>
          </a:p>
        </p:txBody>
      </p:sp>
      <p:sp>
        <p:nvSpPr>
          <p:cNvPr id="246" name="Google Shape;246;p38">
            <a:extLst>
              <a:ext uri="{FF2B5EF4-FFF2-40B4-BE49-F238E27FC236}">
                <a16:creationId xmlns:a16="http://schemas.microsoft.com/office/drawing/2014/main" id="{2A920D73-75F0-3122-F635-B60EC118D171}"/>
              </a:ext>
            </a:extLst>
          </p:cNvPr>
          <p:cNvSpPr txBox="1">
            <a:spLocks noGrp="1"/>
          </p:cNvSpPr>
          <p:nvPr>
            <p:ph type="title" idx="2"/>
          </p:nvPr>
        </p:nvSpPr>
        <p:spPr>
          <a:xfrm>
            <a:off x="3397990" y="941033"/>
            <a:ext cx="1192500" cy="46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cxnSp>
        <p:nvCxnSpPr>
          <p:cNvPr id="247" name="Google Shape;247;p38">
            <a:extLst>
              <a:ext uri="{FF2B5EF4-FFF2-40B4-BE49-F238E27FC236}">
                <a16:creationId xmlns:a16="http://schemas.microsoft.com/office/drawing/2014/main" id="{A0AA5D29-8320-AFC9-5FAA-2EEE0F1F71E8}"/>
              </a:ext>
            </a:extLst>
          </p:cNvPr>
          <p:cNvCxnSpPr>
            <a:cxnSpLocks/>
          </p:cNvCxnSpPr>
          <p:nvPr/>
        </p:nvCxnSpPr>
        <p:spPr>
          <a:xfrm>
            <a:off x="3332175" y="1766220"/>
            <a:ext cx="0" cy="2897065"/>
          </a:xfrm>
          <a:prstGeom prst="straightConnector1">
            <a:avLst/>
          </a:prstGeom>
          <a:noFill/>
          <a:ln w="28575" cap="flat" cmpd="sng">
            <a:solidFill>
              <a:schemeClr val="dk2"/>
            </a:solidFill>
            <a:prstDash val="solid"/>
            <a:round/>
            <a:headEnd type="none" w="med" len="med"/>
            <a:tailEnd type="none" w="med" len="med"/>
          </a:ln>
        </p:spPr>
      </p:cxnSp>
      <p:pic>
        <p:nvPicPr>
          <p:cNvPr id="249" name="Google Shape;249;p38">
            <a:extLst>
              <a:ext uri="{FF2B5EF4-FFF2-40B4-BE49-F238E27FC236}">
                <a16:creationId xmlns:a16="http://schemas.microsoft.com/office/drawing/2014/main" id="{62AAD07D-2FE8-B2E4-90BE-D66925C3D6CA}"/>
              </a:ext>
            </a:extLst>
          </p:cNvPr>
          <p:cNvPicPr preferRelativeResize="0">
            <a:picLocks noGrp="1"/>
          </p:cNvPicPr>
          <p:nvPr>
            <p:ph type="pic" idx="4"/>
          </p:nvPr>
        </p:nvPicPr>
        <p:blipFill rotWithShape="1">
          <a:blip r:embed="rId3">
            <a:alphaModFix/>
          </a:blip>
          <a:srcRect t="961" b="951"/>
          <a:stretch/>
        </p:blipFill>
        <p:spPr>
          <a:xfrm>
            <a:off x="0" y="480215"/>
            <a:ext cx="3168900" cy="4663500"/>
          </a:xfrm>
          <a:prstGeom prst="round1Rect">
            <a:avLst>
              <a:gd name="adj" fmla="val 16667"/>
            </a:avLst>
          </a:prstGeom>
        </p:spPr>
      </p:pic>
      <p:sp>
        <p:nvSpPr>
          <p:cNvPr id="3" name="TextBox 2">
            <a:extLst>
              <a:ext uri="{FF2B5EF4-FFF2-40B4-BE49-F238E27FC236}">
                <a16:creationId xmlns:a16="http://schemas.microsoft.com/office/drawing/2014/main" id="{9B7C2754-2A20-8D57-4559-ADE4F13FA096}"/>
              </a:ext>
            </a:extLst>
          </p:cNvPr>
          <p:cNvSpPr txBox="1"/>
          <p:nvPr/>
        </p:nvSpPr>
        <p:spPr>
          <a:xfrm>
            <a:off x="3458919" y="3248360"/>
            <a:ext cx="4705813" cy="738664"/>
          </a:xfrm>
          <a:prstGeom prst="rect">
            <a:avLst/>
          </a:prstGeom>
          <a:noFill/>
        </p:spPr>
        <p:txBody>
          <a:bodyPr wrap="square" rtlCol="0">
            <a:spAutoFit/>
          </a:bodyPr>
          <a:lstStyle/>
          <a:p>
            <a:r>
              <a:rPr lang="en-US" dirty="0">
                <a:solidFill>
                  <a:schemeClr val="bg2"/>
                </a:solidFill>
                <a:latin typeface="Aptos" panose="020B0004020202020204" pitchFamily="34" charset="0"/>
              </a:rPr>
              <a:t>-&gt; Handling Null values</a:t>
            </a:r>
          </a:p>
          <a:p>
            <a:r>
              <a:rPr lang="en-US" dirty="0">
                <a:solidFill>
                  <a:schemeClr val="bg2"/>
                </a:solidFill>
                <a:latin typeface="Aptos" panose="020B0004020202020204" pitchFamily="34" charset="0"/>
              </a:rPr>
              <a:t>-&gt; Outlier Analysis</a:t>
            </a:r>
          </a:p>
          <a:p>
            <a:r>
              <a:rPr lang="en-US" dirty="0">
                <a:solidFill>
                  <a:schemeClr val="bg2"/>
                </a:solidFill>
                <a:latin typeface="Aptos" panose="020B0004020202020204" pitchFamily="34" charset="0"/>
              </a:rPr>
              <a:t>-&gt; Data Visualization </a:t>
            </a:r>
            <a:endParaRPr lang="en-IN" dirty="0">
              <a:solidFill>
                <a:schemeClr val="bg2"/>
              </a:solidFill>
              <a:latin typeface="Aptos" panose="020B0004020202020204" pitchFamily="34" charset="0"/>
            </a:endParaRPr>
          </a:p>
        </p:txBody>
      </p:sp>
    </p:spTree>
    <p:extLst>
      <p:ext uri="{BB962C8B-B14F-4D97-AF65-F5344CB8AC3E}">
        <p14:creationId xmlns:p14="http://schemas.microsoft.com/office/powerpoint/2010/main" val="2121069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A00615AD-8F9A-C633-525C-A51138C5F1F1}"/>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994FBA21-3AC6-DE5C-A712-DA96CC761A91}"/>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Handling Missing Values</a:t>
            </a:r>
            <a:endParaRPr i="1" dirty="0">
              <a:solidFill>
                <a:schemeClr val="tx1"/>
              </a:solidFill>
            </a:endParaRPr>
          </a:p>
        </p:txBody>
      </p:sp>
      <p:cxnSp>
        <p:nvCxnSpPr>
          <p:cNvPr id="256" name="Google Shape;256;p39">
            <a:extLst>
              <a:ext uri="{FF2B5EF4-FFF2-40B4-BE49-F238E27FC236}">
                <a16:creationId xmlns:a16="http://schemas.microsoft.com/office/drawing/2014/main" id="{3FAC3630-BF89-D7F8-10BF-A917231A49CB}"/>
              </a:ext>
            </a:extLst>
          </p:cNvPr>
          <p:cNvCxnSpPr>
            <a:cxnSpLocks/>
          </p:cNvCxnSpPr>
          <p:nvPr/>
        </p:nvCxnSpPr>
        <p:spPr>
          <a:xfrm>
            <a:off x="4071461" y="3129775"/>
            <a:ext cx="0" cy="1751223"/>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3" name="Picture 2">
            <a:extLst>
              <a:ext uri="{FF2B5EF4-FFF2-40B4-BE49-F238E27FC236}">
                <a16:creationId xmlns:a16="http://schemas.microsoft.com/office/drawing/2014/main" id="{FB905C0C-3F93-EF29-C2EB-8CA694AC862E}"/>
              </a:ext>
            </a:extLst>
          </p:cNvPr>
          <p:cNvPicPr>
            <a:picLocks noChangeAspect="1"/>
          </p:cNvPicPr>
          <p:nvPr/>
        </p:nvPicPr>
        <p:blipFill>
          <a:blip r:embed="rId3"/>
          <a:stretch>
            <a:fillRect/>
          </a:stretch>
        </p:blipFill>
        <p:spPr>
          <a:xfrm>
            <a:off x="830174" y="1206805"/>
            <a:ext cx="1819529" cy="1714739"/>
          </a:xfrm>
          <a:prstGeom prst="rect">
            <a:avLst/>
          </a:prstGeom>
          <a:ln>
            <a:noFill/>
          </a:ln>
          <a:effectLst>
            <a:outerShdw blurRad="292100" dist="139700" dir="2700000" algn="tl" rotWithShape="0">
              <a:srgbClr val="333333">
                <a:alpha val="65000"/>
              </a:srgbClr>
            </a:outerShdw>
          </a:effectLst>
        </p:spPr>
      </p:pic>
      <p:sp>
        <p:nvSpPr>
          <p:cNvPr id="4" name="Arrow: Right 3">
            <a:extLst>
              <a:ext uri="{FF2B5EF4-FFF2-40B4-BE49-F238E27FC236}">
                <a16:creationId xmlns:a16="http://schemas.microsoft.com/office/drawing/2014/main" id="{7FC6A2E6-D91E-BD09-CF7E-651FC4BFDA5E}"/>
              </a:ext>
            </a:extLst>
          </p:cNvPr>
          <p:cNvSpPr/>
          <p:nvPr/>
        </p:nvSpPr>
        <p:spPr>
          <a:xfrm>
            <a:off x="3137210" y="1672683"/>
            <a:ext cx="2304585" cy="415667"/>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pic>
        <p:nvPicPr>
          <p:cNvPr id="7" name="Picture 6">
            <a:extLst>
              <a:ext uri="{FF2B5EF4-FFF2-40B4-BE49-F238E27FC236}">
                <a16:creationId xmlns:a16="http://schemas.microsoft.com/office/drawing/2014/main" id="{2F27CE81-64EF-5A01-0EF1-F99CC89FC00F}"/>
              </a:ext>
            </a:extLst>
          </p:cNvPr>
          <p:cNvPicPr>
            <a:picLocks noChangeAspect="1"/>
          </p:cNvPicPr>
          <p:nvPr/>
        </p:nvPicPr>
        <p:blipFill>
          <a:blip r:embed="rId4"/>
          <a:stretch>
            <a:fillRect/>
          </a:stretch>
        </p:blipFill>
        <p:spPr>
          <a:xfrm>
            <a:off x="6334811" y="1212181"/>
            <a:ext cx="1819529" cy="1714739"/>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B273BFFC-C810-1797-787C-F998BE3C9070}"/>
              </a:ext>
            </a:extLst>
          </p:cNvPr>
          <p:cNvSpPr txBox="1"/>
          <p:nvPr/>
        </p:nvSpPr>
        <p:spPr>
          <a:xfrm>
            <a:off x="542736" y="3174381"/>
            <a:ext cx="3419705" cy="1169551"/>
          </a:xfrm>
          <a:prstGeom prst="rect">
            <a:avLst/>
          </a:prstGeom>
          <a:noFill/>
        </p:spPr>
        <p:txBody>
          <a:bodyPr wrap="square" rtlCol="0">
            <a:spAutoFit/>
          </a:bodyPr>
          <a:lstStyle/>
          <a:p>
            <a:r>
              <a:rPr lang="en-US" b="1" dirty="0">
                <a:solidFill>
                  <a:schemeClr val="tx1"/>
                </a:solidFill>
                <a:latin typeface="Aptos" panose="020B0004020202020204" pitchFamily="34" charset="0"/>
              </a:rPr>
              <a:t>Missing Data Summary:</a:t>
            </a:r>
          </a:p>
          <a:p>
            <a:endParaRPr lang="en-US" b="1" dirty="0">
              <a:latin typeface="Aptos" panose="020B0004020202020204" pitchFamily="34" charset="0"/>
            </a:endParaRPr>
          </a:p>
          <a:p>
            <a:r>
              <a:rPr lang="en-US" dirty="0">
                <a:latin typeface="Aptos" panose="020B0004020202020204" pitchFamily="34" charset="0"/>
              </a:rPr>
              <a:t>➤ SUPPLIER: 167 missing</a:t>
            </a:r>
          </a:p>
          <a:p>
            <a:r>
              <a:rPr lang="en-US" dirty="0">
                <a:latin typeface="Aptos" panose="020B0004020202020204" pitchFamily="34" charset="0"/>
              </a:rPr>
              <a:t>➤ ITEM TYPE: 1 missing</a:t>
            </a:r>
          </a:p>
          <a:p>
            <a:r>
              <a:rPr lang="en-US" dirty="0">
                <a:latin typeface="Aptos" panose="020B0004020202020204" pitchFamily="34" charset="0"/>
              </a:rPr>
              <a:t>➤ RETAIL SALES: 3 missing</a:t>
            </a:r>
            <a:endParaRPr lang="en-IN" dirty="0">
              <a:latin typeface="Aptos" panose="020B0004020202020204" pitchFamily="34" charset="0"/>
            </a:endParaRPr>
          </a:p>
        </p:txBody>
      </p:sp>
      <p:sp>
        <p:nvSpPr>
          <p:cNvPr id="14" name="TextBox 13">
            <a:extLst>
              <a:ext uri="{FF2B5EF4-FFF2-40B4-BE49-F238E27FC236}">
                <a16:creationId xmlns:a16="http://schemas.microsoft.com/office/drawing/2014/main" id="{7F917522-BFD5-AD35-7262-F21503712FC8}"/>
              </a:ext>
            </a:extLst>
          </p:cNvPr>
          <p:cNvSpPr txBox="1"/>
          <p:nvPr/>
        </p:nvSpPr>
        <p:spPr>
          <a:xfrm>
            <a:off x="4289502" y="3174381"/>
            <a:ext cx="3864836" cy="1600438"/>
          </a:xfrm>
          <a:prstGeom prst="rect">
            <a:avLst/>
          </a:prstGeom>
          <a:noFill/>
        </p:spPr>
        <p:txBody>
          <a:bodyPr wrap="square" rtlCol="0">
            <a:spAutoFit/>
          </a:bodyPr>
          <a:lstStyle/>
          <a:p>
            <a:r>
              <a:rPr lang="en-US" b="1" dirty="0">
                <a:solidFill>
                  <a:schemeClr val="tx1"/>
                </a:solidFill>
                <a:latin typeface="Aptos" panose="020B0004020202020204" pitchFamily="34" charset="0"/>
              </a:rPr>
              <a:t>Imputation Strategy:</a:t>
            </a:r>
          </a:p>
          <a:p>
            <a:endParaRPr lang="en-US" b="1" dirty="0">
              <a:latin typeface="Aptos" panose="020B0004020202020204" pitchFamily="34" charset="0"/>
            </a:endParaRPr>
          </a:p>
          <a:p>
            <a:r>
              <a:rPr lang="en-US" dirty="0">
                <a:latin typeface="Aptos" panose="020B0004020202020204" pitchFamily="34" charset="0"/>
              </a:rPr>
              <a:t>➤ SUPPLIER and ITEM TYPE filled with 'Unknown' to preserve categorical consistency</a:t>
            </a:r>
          </a:p>
          <a:p>
            <a:endParaRPr lang="en-US" dirty="0">
              <a:latin typeface="Aptos" panose="020B0004020202020204" pitchFamily="34" charset="0"/>
            </a:endParaRPr>
          </a:p>
          <a:p>
            <a:r>
              <a:rPr lang="en-US" dirty="0">
                <a:latin typeface="Aptos" panose="020B0004020202020204" pitchFamily="34" charset="0"/>
              </a:rPr>
              <a:t>➤ RETAIL SALES filled with its median value to reduce the impact of outliers</a:t>
            </a:r>
            <a:endParaRPr lang="en-IN" dirty="0">
              <a:latin typeface="Aptos" panose="020B0004020202020204" pitchFamily="34" charset="0"/>
            </a:endParaRPr>
          </a:p>
        </p:txBody>
      </p:sp>
    </p:spTree>
    <p:extLst>
      <p:ext uri="{BB962C8B-B14F-4D97-AF65-F5344CB8AC3E}">
        <p14:creationId xmlns:p14="http://schemas.microsoft.com/office/powerpoint/2010/main" val="772551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E9722A1F-AE32-200A-797B-3BA229F6E0DB}"/>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27D3D2F6-4D74-E288-4BD0-84D87CACE991}"/>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Outlier Analysis</a:t>
            </a:r>
            <a:endParaRPr i="1" dirty="0">
              <a:solidFill>
                <a:schemeClr val="tx1"/>
              </a:solidFill>
            </a:endParaRPr>
          </a:p>
        </p:txBody>
      </p:sp>
      <p:cxnSp>
        <p:nvCxnSpPr>
          <p:cNvPr id="256" name="Google Shape;256;p39">
            <a:extLst>
              <a:ext uri="{FF2B5EF4-FFF2-40B4-BE49-F238E27FC236}">
                <a16:creationId xmlns:a16="http://schemas.microsoft.com/office/drawing/2014/main" id="{213AD3D5-ABC5-ED71-CD73-51E5ED9CBE37}"/>
              </a:ext>
            </a:extLst>
          </p:cNvPr>
          <p:cNvCxnSpPr>
            <a:cxnSpLocks/>
          </p:cNvCxnSpPr>
          <p:nvPr/>
        </p:nvCxnSpPr>
        <p:spPr>
          <a:xfrm>
            <a:off x="4863474" y="1354358"/>
            <a:ext cx="0" cy="361165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pic>
        <p:nvPicPr>
          <p:cNvPr id="5" name="Picture 4">
            <a:extLst>
              <a:ext uri="{FF2B5EF4-FFF2-40B4-BE49-F238E27FC236}">
                <a16:creationId xmlns:a16="http://schemas.microsoft.com/office/drawing/2014/main" id="{7753B1D0-4AD8-7464-F222-229C799FB33D}"/>
              </a:ext>
            </a:extLst>
          </p:cNvPr>
          <p:cNvPicPr>
            <a:picLocks noChangeAspect="1"/>
          </p:cNvPicPr>
          <p:nvPr/>
        </p:nvPicPr>
        <p:blipFill>
          <a:blip r:embed="rId3"/>
          <a:stretch>
            <a:fillRect/>
          </a:stretch>
        </p:blipFill>
        <p:spPr>
          <a:xfrm>
            <a:off x="470812" y="1230836"/>
            <a:ext cx="4281175" cy="1579271"/>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DC05FCDB-8AEE-9C72-0479-898138D7881E}"/>
              </a:ext>
            </a:extLst>
          </p:cNvPr>
          <p:cNvSpPr txBox="1"/>
          <p:nvPr/>
        </p:nvSpPr>
        <p:spPr>
          <a:xfrm>
            <a:off x="5047785" y="1498190"/>
            <a:ext cx="3531210" cy="3323987"/>
          </a:xfrm>
          <a:prstGeom prst="rect">
            <a:avLst/>
          </a:prstGeom>
          <a:noFill/>
        </p:spPr>
        <p:txBody>
          <a:bodyPr wrap="square" rtlCol="0">
            <a:spAutoFit/>
          </a:bodyPr>
          <a:lstStyle/>
          <a:p>
            <a:r>
              <a:rPr lang="en-US" b="1" dirty="0">
                <a:solidFill>
                  <a:schemeClr val="tx1"/>
                </a:solidFill>
                <a:latin typeface="Aptos" panose="020B0004020202020204" pitchFamily="34" charset="0"/>
              </a:rPr>
              <a:t>Outlier Analysis Summary</a:t>
            </a:r>
          </a:p>
          <a:p>
            <a:r>
              <a:rPr lang="en-US" b="1" dirty="0">
                <a:latin typeface="Aptos" panose="020B0004020202020204" pitchFamily="34" charset="0"/>
              </a:rPr>
              <a:t>- </a:t>
            </a:r>
            <a:r>
              <a:rPr lang="en-US" i="1" dirty="0">
                <a:solidFill>
                  <a:schemeClr val="tx1"/>
                </a:solidFill>
                <a:latin typeface="Aptos" panose="020B0004020202020204" pitchFamily="34" charset="0"/>
              </a:rPr>
              <a:t>Boxplot and IQR </a:t>
            </a:r>
            <a:r>
              <a:rPr lang="en-US" i="1" dirty="0">
                <a:latin typeface="Aptos" panose="020B0004020202020204" pitchFamily="34" charset="0"/>
              </a:rPr>
              <a:t>method </a:t>
            </a:r>
            <a:r>
              <a:rPr lang="en-US" dirty="0">
                <a:latin typeface="Aptos" panose="020B0004020202020204" pitchFamily="34" charset="0"/>
              </a:rPr>
              <a:t>used to detect outliers in key sales features.</a:t>
            </a:r>
          </a:p>
          <a:p>
            <a:r>
              <a:rPr lang="en-US" b="1" dirty="0">
                <a:latin typeface="Aptos" panose="020B0004020202020204" pitchFamily="34" charset="0"/>
              </a:rPr>
              <a:t>- </a:t>
            </a:r>
            <a:r>
              <a:rPr lang="en-US" i="1" dirty="0">
                <a:solidFill>
                  <a:schemeClr val="tx1"/>
                </a:solidFill>
                <a:latin typeface="Aptos" panose="020B0004020202020204" pitchFamily="34" charset="0"/>
              </a:rPr>
              <a:t>Warehouse Sales </a:t>
            </a:r>
            <a:r>
              <a:rPr lang="en-US" dirty="0">
                <a:latin typeface="Aptos" panose="020B0004020202020204" pitchFamily="34" charset="0"/>
              </a:rPr>
              <a:t>contains extreme high outliers, significantly skewing the distribution.</a:t>
            </a:r>
          </a:p>
          <a:p>
            <a:r>
              <a:rPr lang="en-US" b="1" dirty="0">
                <a:latin typeface="Aptos" panose="020B0004020202020204" pitchFamily="34" charset="0"/>
              </a:rPr>
              <a:t>- </a:t>
            </a:r>
            <a:r>
              <a:rPr lang="en-US" i="1" dirty="0">
                <a:solidFill>
                  <a:schemeClr val="tx1"/>
                </a:solidFill>
                <a:latin typeface="Aptos" panose="020B0004020202020204" pitchFamily="34" charset="0"/>
              </a:rPr>
              <a:t>Negative</a:t>
            </a:r>
            <a:r>
              <a:rPr lang="en-US" i="1" dirty="0">
                <a:latin typeface="Aptos" panose="020B0004020202020204" pitchFamily="34" charset="0"/>
              </a:rPr>
              <a:t> values </a:t>
            </a:r>
            <a:r>
              <a:rPr lang="en-US" dirty="0">
                <a:latin typeface="Aptos" panose="020B0004020202020204" pitchFamily="34" charset="0"/>
              </a:rPr>
              <a:t>found across all sales fields, likely due to returns or data issues.</a:t>
            </a:r>
          </a:p>
          <a:p>
            <a:r>
              <a:rPr lang="en-US" b="1" dirty="0">
                <a:latin typeface="Aptos" panose="020B0004020202020204" pitchFamily="34" charset="0"/>
              </a:rPr>
              <a:t>- </a:t>
            </a:r>
            <a:r>
              <a:rPr lang="en-US" i="1" dirty="0">
                <a:solidFill>
                  <a:schemeClr val="tx1"/>
                </a:solidFill>
                <a:latin typeface="Aptos" panose="020B0004020202020204" pitchFamily="34" charset="0"/>
              </a:rPr>
              <a:t>Retail Sales </a:t>
            </a:r>
            <a:r>
              <a:rPr lang="en-US" dirty="0">
                <a:latin typeface="Aptos" panose="020B0004020202020204" pitchFamily="34" charset="0"/>
              </a:rPr>
              <a:t>and </a:t>
            </a:r>
            <a:r>
              <a:rPr lang="en-US" i="1" dirty="0">
                <a:solidFill>
                  <a:schemeClr val="tx1"/>
                </a:solidFill>
                <a:latin typeface="Aptos" panose="020B0004020202020204" pitchFamily="34" charset="0"/>
              </a:rPr>
              <a:t>Retail Transfers </a:t>
            </a:r>
            <a:r>
              <a:rPr lang="en-US" dirty="0">
                <a:latin typeface="Aptos" panose="020B0004020202020204" pitchFamily="34" charset="0"/>
              </a:rPr>
              <a:t>show limited outlier spread with tighter distributions.</a:t>
            </a:r>
          </a:p>
          <a:p>
            <a:r>
              <a:rPr lang="en-US" b="1" dirty="0">
                <a:latin typeface="Aptos" panose="020B0004020202020204" pitchFamily="34" charset="0"/>
              </a:rPr>
              <a:t>- </a:t>
            </a:r>
            <a:r>
              <a:rPr lang="en-US" i="1" dirty="0">
                <a:solidFill>
                  <a:schemeClr val="tx1"/>
                </a:solidFill>
                <a:latin typeface="Aptos" panose="020B0004020202020204" pitchFamily="34" charset="0"/>
              </a:rPr>
              <a:t>Capping or transformation </a:t>
            </a:r>
            <a:r>
              <a:rPr lang="en-US" dirty="0">
                <a:latin typeface="Aptos" panose="020B0004020202020204" pitchFamily="34" charset="0"/>
              </a:rPr>
              <a:t>may be needed to reduce skewness and support effective clustering.</a:t>
            </a:r>
          </a:p>
          <a:p>
            <a:endParaRPr lang="en-IN" dirty="0">
              <a:latin typeface="Aptos" panose="020B0004020202020204" pitchFamily="34" charset="0"/>
            </a:endParaRPr>
          </a:p>
        </p:txBody>
      </p:sp>
      <p:pic>
        <p:nvPicPr>
          <p:cNvPr id="16" name="Picture 15">
            <a:extLst>
              <a:ext uri="{FF2B5EF4-FFF2-40B4-BE49-F238E27FC236}">
                <a16:creationId xmlns:a16="http://schemas.microsoft.com/office/drawing/2014/main" id="{B0AD1947-E3F1-5EF9-9E65-3D97CA0BBE7B}"/>
              </a:ext>
            </a:extLst>
          </p:cNvPr>
          <p:cNvPicPr>
            <a:picLocks noChangeAspect="1"/>
          </p:cNvPicPr>
          <p:nvPr/>
        </p:nvPicPr>
        <p:blipFill>
          <a:blip r:embed="rId4"/>
          <a:stretch>
            <a:fillRect/>
          </a:stretch>
        </p:blipFill>
        <p:spPr>
          <a:xfrm>
            <a:off x="470812" y="2967743"/>
            <a:ext cx="4281175" cy="1998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24291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F3C3193-2F93-EA4D-246E-656AEEE5813A}"/>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87F6B012-5DAD-9813-1601-EDECACE359BF}"/>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Data Visualization #1</a:t>
            </a:r>
            <a:endParaRPr i="1" dirty="0">
              <a:solidFill>
                <a:schemeClr val="tx1"/>
              </a:solidFill>
            </a:endParaRPr>
          </a:p>
        </p:txBody>
      </p:sp>
      <p:cxnSp>
        <p:nvCxnSpPr>
          <p:cNvPr id="256" name="Google Shape;256;p39">
            <a:extLst>
              <a:ext uri="{FF2B5EF4-FFF2-40B4-BE49-F238E27FC236}">
                <a16:creationId xmlns:a16="http://schemas.microsoft.com/office/drawing/2014/main" id="{ADD5F1F5-BE04-485F-B7EC-963C22BEC45B}"/>
              </a:ext>
            </a:extLst>
          </p:cNvPr>
          <p:cNvCxnSpPr>
            <a:cxnSpLocks/>
          </p:cNvCxnSpPr>
          <p:nvPr/>
        </p:nvCxnSpPr>
        <p:spPr>
          <a:xfrm>
            <a:off x="4863474" y="1354358"/>
            <a:ext cx="0" cy="361165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BFDFC7EB-6A48-81EB-BA15-20E0CDADF89C}"/>
              </a:ext>
            </a:extLst>
          </p:cNvPr>
          <p:cNvSpPr txBox="1"/>
          <p:nvPr/>
        </p:nvSpPr>
        <p:spPr>
          <a:xfrm>
            <a:off x="5032917" y="1464271"/>
            <a:ext cx="3531210" cy="3323987"/>
          </a:xfrm>
          <a:prstGeom prst="rect">
            <a:avLst/>
          </a:prstGeom>
          <a:noFill/>
        </p:spPr>
        <p:txBody>
          <a:bodyPr wrap="square" rtlCol="0">
            <a:spAutoFit/>
          </a:bodyPr>
          <a:lstStyle/>
          <a:p>
            <a:r>
              <a:rPr lang="en-US" b="1" dirty="0">
                <a:solidFill>
                  <a:schemeClr val="tx1"/>
                </a:solidFill>
                <a:latin typeface="Aptos" panose="020B0004020202020204" pitchFamily="34" charset="0"/>
              </a:rPr>
              <a:t>Sales Distribution by Year and Type</a:t>
            </a:r>
          </a:p>
          <a:p>
            <a:r>
              <a:rPr lang="en-US" b="1" dirty="0">
                <a:solidFill>
                  <a:schemeClr val="tx1"/>
                </a:solidFill>
                <a:latin typeface="Aptos" panose="020B0004020202020204" pitchFamily="34" charset="0"/>
              </a:rPr>
              <a:t>(Most saleable ITEM TYPE shown in each bar)</a:t>
            </a:r>
          </a:p>
          <a:p>
            <a:r>
              <a:rPr lang="en-US" b="1" dirty="0">
                <a:latin typeface="Aptos" panose="020B0004020202020204" pitchFamily="34" charset="0"/>
              </a:rPr>
              <a:t>-</a:t>
            </a:r>
            <a:r>
              <a:rPr lang="en-US" dirty="0">
                <a:latin typeface="Aptos" panose="020B0004020202020204" pitchFamily="34" charset="0"/>
              </a:rPr>
              <a:t> In 2019, Warehouse Sales peaked sharply, driven predominantly by </a:t>
            </a:r>
            <a:r>
              <a:rPr lang="en-US" i="1" dirty="0">
                <a:solidFill>
                  <a:schemeClr val="tx1"/>
                </a:solidFill>
                <a:latin typeface="Aptos" panose="020B0004020202020204" pitchFamily="34" charset="0"/>
              </a:rPr>
              <a:t>BEER</a:t>
            </a:r>
            <a:r>
              <a:rPr lang="en-US" dirty="0">
                <a:latin typeface="Aptos" panose="020B0004020202020204" pitchFamily="34" charset="0"/>
              </a:rPr>
              <a:t> sales.</a:t>
            </a:r>
          </a:p>
          <a:p>
            <a:r>
              <a:rPr lang="en-US" b="1" dirty="0">
                <a:latin typeface="Aptos" panose="020B0004020202020204" pitchFamily="34" charset="0"/>
              </a:rPr>
              <a:t>- </a:t>
            </a:r>
            <a:r>
              <a:rPr lang="en-US" i="1" dirty="0">
                <a:solidFill>
                  <a:schemeClr val="tx1"/>
                </a:solidFill>
                <a:latin typeface="Aptos" panose="020B0004020202020204" pitchFamily="34" charset="0"/>
              </a:rPr>
              <a:t>LIQUOR</a:t>
            </a:r>
            <a:r>
              <a:rPr lang="en-US" dirty="0">
                <a:latin typeface="Aptos" panose="020B0004020202020204" pitchFamily="34" charset="0"/>
              </a:rPr>
              <a:t> consistently held strong sales through Retail and Transfer channels between 2017–2020. </a:t>
            </a:r>
          </a:p>
          <a:p>
            <a:r>
              <a:rPr lang="en-US" b="1" dirty="0">
                <a:latin typeface="Aptos" panose="020B0004020202020204" pitchFamily="34" charset="0"/>
              </a:rPr>
              <a:t>-</a:t>
            </a:r>
            <a:r>
              <a:rPr lang="en-US" dirty="0">
                <a:latin typeface="Aptos" panose="020B0004020202020204" pitchFamily="34" charset="0"/>
              </a:rPr>
              <a:t> </a:t>
            </a:r>
            <a:r>
              <a:rPr lang="en-US" i="1" dirty="0">
                <a:solidFill>
                  <a:schemeClr val="tx1"/>
                </a:solidFill>
                <a:latin typeface="Aptos" panose="020B0004020202020204" pitchFamily="34" charset="0"/>
              </a:rPr>
              <a:t>BEER</a:t>
            </a:r>
            <a:r>
              <a:rPr lang="en-US" dirty="0">
                <a:latin typeface="Aptos" panose="020B0004020202020204" pitchFamily="34" charset="0"/>
              </a:rPr>
              <a:t> emerged as the most dominant product in terms of Warehouse Sales across all years.  </a:t>
            </a:r>
          </a:p>
          <a:p>
            <a:r>
              <a:rPr lang="en-US" b="1" dirty="0">
                <a:latin typeface="Aptos" panose="020B0004020202020204" pitchFamily="34" charset="0"/>
              </a:rPr>
              <a:t>-</a:t>
            </a:r>
            <a:r>
              <a:rPr lang="en-US" dirty="0">
                <a:latin typeface="Aptos" panose="020B0004020202020204" pitchFamily="34" charset="0"/>
              </a:rPr>
              <a:t> </a:t>
            </a:r>
            <a:r>
              <a:rPr lang="en-US" i="1" dirty="0">
                <a:solidFill>
                  <a:schemeClr val="tx1"/>
                </a:solidFill>
                <a:latin typeface="Aptos" panose="020B0004020202020204" pitchFamily="34" charset="0"/>
              </a:rPr>
              <a:t>WINE</a:t>
            </a:r>
            <a:r>
              <a:rPr lang="en-US" dirty="0">
                <a:latin typeface="Aptos" panose="020B0004020202020204" pitchFamily="34" charset="0"/>
              </a:rPr>
              <a:t> and other categories showed minimal contribution compared to </a:t>
            </a:r>
            <a:r>
              <a:rPr lang="en-US" i="1" dirty="0">
                <a:solidFill>
                  <a:schemeClr val="tx1"/>
                </a:solidFill>
                <a:latin typeface="Aptos" panose="020B0004020202020204" pitchFamily="34" charset="0"/>
              </a:rPr>
              <a:t>BEER</a:t>
            </a:r>
            <a:r>
              <a:rPr lang="en-US" dirty="0">
                <a:latin typeface="Aptos" panose="020B0004020202020204" pitchFamily="34" charset="0"/>
              </a:rPr>
              <a:t> and </a:t>
            </a:r>
            <a:r>
              <a:rPr lang="en-US" i="1" dirty="0">
                <a:solidFill>
                  <a:schemeClr val="tx1"/>
                </a:solidFill>
                <a:latin typeface="Aptos" panose="020B0004020202020204" pitchFamily="34" charset="0"/>
              </a:rPr>
              <a:t>LIQUOR</a:t>
            </a:r>
            <a:r>
              <a:rPr lang="en-US" dirty="0">
                <a:latin typeface="Aptos" panose="020B0004020202020204" pitchFamily="34" charset="0"/>
              </a:rPr>
              <a:t> in all types of sales.</a:t>
            </a:r>
          </a:p>
          <a:p>
            <a:endParaRPr lang="en-IN" dirty="0">
              <a:latin typeface="Aptos" panose="020B0004020202020204" pitchFamily="34" charset="0"/>
            </a:endParaRPr>
          </a:p>
        </p:txBody>
      </p:sp>
      <p:pic>
        <p:nvPicPr>
          <p:cNvPr id="3" name="Picture 2">
            <a:extLst>
              <a:ext uri="{FF2B5EF4-FFF2-40B4-BE49-F238E27FC236}">
                <a16:creationId xmlns:a16="http://schemas.microsoft.com/office/drawing/2014/main" id="{E90E1615-D224-6EF6-96C4-54421293FC7B}"/>
              </a:ext>
            </a:extLst>
          </p:cNvPr>
          <p:cNvPicPr>
            <a:picLocks noChangeAspect="1"/>
          </p:cNvPicPr>
          <p:nvPr/>
        </p:nvPicPr>
        <p:blipFill>
          <a:blip r:embed="rId3"/>
          <a:stretch>
            <a:fillRect/>
          </a:stretch>
        </p:blipFill>
        <p:spPr>
          <a:xfrm>
            <a:off x="579873" y="1286521"/>
            <a:ext cx="4114159" cy="36794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42753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17B85A43-20DA-21D1-B9B2-36FF4CF5ADC1}"/>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7BB1F606-4209-6875-EAF7-ED1233CF48A2}"/>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Data Visualization #2</a:t>
            </a:r>
            <a:endParaRPr i="1" dirty="0">
              <a:solidFill>
                <a:schemeClr val="tx1"/>
              </a:solidFill>
            </a:endParaRPr>
          </a:p>
        </p:txBody>
      </p:sp>
      <p:cxnSp>
        <p:nvCxnSpPr>
          <p:cNvPr id="256" name="Google Shape;256;p39">
            <a:extLst>
              <a:ext uri="{FF2B5EF4-FFF2-40B4-BE49-F238E27FC236}">
                <a16:creationId xmlns:a16="http://schemas.microsoft.com/office/drawing/2014/main" id="{94DA8626-8F35-DBA1-D02E-041DC40593F8}"/>
              </a:ext>
            </a:extLst>
          </p:cNvPr>
          <p:cNvCxnSpPr>
            <a:cxnSpLocks/>
          </p:cNvCxnSpPr>
          <p:nvPr/>
        </p:nvCxnSpPr>
        <p:spPr>
          <a:xfrm>
            <a:off x="4863474" y="1354358"/>
            <a:ext cx="0" cy="361165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DCA37D28-E756-BF64-6732-FBC0FE9F077B}"/>
              </a:ext>
            </a:extLst>
          </p:cNvPr>
          <p:cNvSpPr txBox="1"/>
          <p:nvPr/>
        </p:nvSpPr>
        <p:spPr>
          <a:xfrm>
            <a:off x="5032917" y="1605912"/>
            <a:ext cx="3531210" cy="3108543"/>
          </a:xfrm>
          <a:prstGeom prst="rect">
            <a:avLst/>
          </a:prstGeom>
          <a:noFill/>
        </p:spPr>
        <p:txBody>
          <a:bodyPr wrap="square" rtlCol="0">
            <a:spAutoFit/>
          </a:bodyPr>
          <a:lstStyle/>
          <a:p>
            <a:r>
              <a:rPr lang="en-US" b="1" dirty="0">
                <a:solidFill>
                  <a:schemeClr val="tx1"/>
                </a:solidFill>
                <a:latin typeface="Aptos" panose="020B0004020202020204" pitchFamily="34" charset="0"/>
              </a:rPr>
              <a:t>Sales Trend by Year and Type</a:t>
            </a:r>
          </a:p>
          <a:p>
            <a:r>
              <a:rPr lang="en-US" b="1" dirty="0">
                <a:latin typeface="Aptos" panose="020B0004020202020204" pitchFamily="34" charset="0"/>
              </a:rPr>
              <a:t>- </a:t>
            </a:r>
            <a:r>
              <a:rPr lang="en-US" dirty="0">
                <a:latin typeface="Aptos" panose="020B0004020202020204" pitchFamily="34" charset="0"/>
              </a:rPr>
              <a:t>All three sales types witnessed a significant dip in 2018 before rising again in 2019.  </a:t>
            </a:r>
          </a:p>
          <a:p>
            <a:r>
              <a:rPr lang="en-US" b="1" dirty="0">
                <a:latin typeface="Aptos" panose="020B0004020202020204" pitchFamily="34" charset="0"/>
              </a:rPr>
              <a:t>- </a:t>
            </a:r>
            <a:r>
              <a:rPr lang="en-US" dirty="0">
                <a:latin typeface="Aptos" panose="020B0004020202020204" pitchFamily="34" charset="0"/>
              </a:rPr>
              <a:t>Warehouse Sales displayed a much larger magnitude compared to Retail Sales and Retail Transfers.  </a:t>
            </a:r>
          </a:p>
          <a:p>
            <a:r>
              <a:rPr lang="en-US" b="1" dirty="0">
                <a:latin typeface="Aptos" panose="020B0004020202020204" pitchFamily="34" charset="0"/>
              </a:rPr>
              <a:t>-</a:t>
            </a:r>
            <a:r>
              <a:rPr lang="en-US" dirty="0">
                <a:latin typeface="Aptos" panose="020B0004020202020204" pitchFamily="34" charset="0"/>
              </a:rPr>
              <a:t> Retail Transfers and Retail Sales followed a similar trend over the years, both rising and falling together.  </a:t>
            </a:r>
          </a:p>
          <a:p>
            <a:r>
              <a:rPr lang="en-US" b="1" dirty="0">
                <a:latin typeface="Aptos" panose="020B0004020202020204" pitchFamily="34" charset="0"/>
              </a:rPr>
              <a:t>-</a:t>
            </a:r>
            <a:r>
              <a:rPr lang="en-US" dirty="0">
                <a:latin typeface="Aptos" panose="020B0004020202020204" pitchFamily="34" charset="0"/>
              </a:rPr>
              <a:t> After the 2019 peak, all sales types declined in 2020, likely indicating a market disruption or external factor.</a:t>
            </a:r>
          </a:p>
          <a:p>
            <a:endParaRPr lang="en-IN" dirty="0">
              <a:latin typeface="Aptos" panose="020B0004020202020204" pitchFamily="34" charset="0"/>
            </a:endParaRPr>
          </a:p>
        </p:txBody>
      </p:sp>
      <p:pic>
        <p:nvPicPr>
          <p:cNvPr id="4" name="Picture 3">
            <a:extLst>
              <a:ext uri="{FF2B5EF4-FFF2-40B4-BE49-F238E27FC236}">
                <a16:creationId xmlns:a16="http://schemas.microsoft.com/office/drawing/2014/main" id="{D14484D9-9A17-09FB-F5D5-85D82C70BAC9}"/>
              </a:ext>
            </a:extLst>
          </p:cNvPr>
          <p:cNvPicPr>
            <a:picLocks noChangeAspect="1"/>
          </p:cNvPicPr>
          <p:nvPr/>
        </p:nvPicPr>
        <p:blipFill>
          <a:blip r:embed="rId3"/>
          <a:stretch>
            <a:fillRect/>
          </a:stretch>
        </p:blipFill>
        <p:spPr>
          <a:xfrm>
            <a:off x="918759" y="1354358"/>
            <a:ext cx="3861396" cy="36116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05473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FDAB51FE-FE9B-748A-2A60-802D2359AAED}"/>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38487D37-21EE-1A77-D7FD-808A2A44A5C1}"/>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Data Visualization #3</a:t>
            </a:r>
            <a:endParaRPr i="1" dirty="0">
              <a:solidFill>
                <a:schemeClr val="tx1"/>
              </a:solidFill>
            </a:endParaRPr>
          </a:p>
        </p:txBody>
      </p:sp>
      <p:cxnSp>
        <p:nvCxnSpPr>
          <p:cNvPr id="256" name="Google Shape;256;p39">
            <a:extLst>
              <a:ext uri="{FF2B5EF4-FFF2-40B4-BE49-F238E27FC236}">
                <a16:creationId xmlns:a16="http://schemas.microsoft.com/office/drawing/2014/main" id="{49E3E1B0-9300-CE94-65BA-2CC5FAA807E3}"/>
              </a:ext>
            </a:extLst>
          </p:cNvPr>
          <p:cNvCxnSpPr>
            <a:cxnSpLocks/>
          </p:cNvCxnSpPr>
          <p:nvPr/>
        </p:nvCxnSpPr>
        <p:spPr>
          <a:xfrm>
            <a:off x="4863474" y="1354358"/>
            <a:ext cx="0" cy="361165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DC1C4496-B3C7-6633-AC2E-45477316EAFF}"/>
              </a:ext>
            </a:extLst>
          </p:cNvPr>
          <p:cNvSpPr txBox="1"/>
          <p:nvPr/>
        </p:nvSpPr>
        <p:spPr>
          <a:xfrm>
            <a:off x="5010615" y="1734394"/>
            <a:ext cx="3531210" cy="2893100"/>
          </a:xfrm>
          <a:prstGeom prst="rect">
            <a:avLst/>
          </a:prstGeom>
          <a:noFill/>
        </p:spPr>
        <p:txBody>
          <a:bodyPr wrap="square" rtlCol="0">
            <a:spAutoFit/>
          </a:bodyPr>
          <a:lstStyle/>
          <a:p>
            <a:r>
              <a:rPr lang="en-US" b="1" dirty="0">
                <a:solidFill>
                  <a:schemeClr val="tx1"/>
                </a:solidFill>
                <a:latin typeface="Aptos" panose="020B0004020202020204" pitchFamily="34" charset="0"/>
              </a:rPr>
              <a:t>Total Sales by ITEM TYPE – Pie Charts</a:t>
            </a:r>
          </a:p>
          <a:p>
            <a:endParaRPr lang="en-US" b="1" dirty="0">
              <a:solidFill>
                <a:schemeClr val="tx1"/>
              </a:solidFill>
              <a:latin typeface="Aptos" panose="020B0004020202020204" pitchFamily="34" charset="0"/>
            </a:endParaRPr>
          </a:p>
          <a:p>
            <a:r>
              <a:rPr lang="en-US" b="1" dirty="0">
                <a:latin typeface="Aptos" panose="020B0004020202020204" pitchFamily="34" charset="0"/>
              </a:rPr>
              <a:t>2017</a:t>
            </a:r>
            <a:r>
              <a:rPr lang="en-US" dirty="0">
                <a:latin typeface="Aptos" panose="020B0004020202020204" pitchFamily="34" charset="0"/>
              </a:rPr>
              <a:t>: </a:t>
            </a:r>
            <a:r>
              <a:rPr lang="en-US" i="1" dirty="0">
                <a:solidFill>
                  <a:schemeClr val="tx1"/>
                </a:solidFill>
                <a:latin typeface="Aptos" panose="020B0004020202020204" pitchFamily="34" charset="0"/>
              </a:rPr>
              <a:t>BEER</a:t>
            </a:r>
            <a:r>
              <a:rPr lang="en-US" dirty="0">
                <a:latin typeface="Aptos" panose="020B0004020202020204" pitchFamily="34" charset="0"/>
              </a:rPr>
              <a:t> dominated sales followed by </a:t>
            </a:r>
            <a:r>
              <a:rPr lang="en-US" i="1" dirty="0">
                <a:solidFill>
                  <a:schemeClr val="tx1"/>
                </a:solidFill>
                <a:latin typeface="Aptos" panose="020B0004020202020204" pitchFamily="34" charset="0"/>
              </a:rPr>
              <a:t>LIQUOR</a:t>
            </a:r>
            <a:r>
              <a:rPr lang="en-US" dirty="0">
                <a:latin typeface="Aptos" panose="020B0004020202020204" pitchFamily="34" charset="0"/>
              </a:rPr>
              <a:t> and </a:t>
            </a:r>
            <a:r>
              <a:rPr lang="en-US" i="1" dirty="0">
                <a:solidFill>
                  <a:schemeClr val="tx1"/>
                </a:solidFill>
                <a:latin typeface="Aptos" panose="020B0004020202020204" pitchFamily="34" charset="0"/>
              </a:rPr>
              <a:t>WINE</a:t>
            </a:r>
            <a:r>
              <a:rPr lang="en-US" dirty="0">
                <a:latin typeface="Aptos" panose="020B0004020202020204" pitchFamily="34" charset="0"/>
              </a:rPr>
              <a:t>.</a:t>
            </a:r>
          </a:p>
          <a:p>
            <a:r>
              <a:rPr lang="en-US" b="1" dirty="0">
                <a:latin typeface="Aptos" panose="020B0004020202020204" pitchFamily="34" charset="0"/>
              </a:rPr>
              <a:t>2018</a:t>
            </a:r>
            <a:r>
              <a:rPr lang="en-US" dirty="0">
                <a:latin typeface="Aptos" panose="020B0004020202020204" pitchFamily="34" charset="0"/>
              </a:rPr>
              <a:t>: </a:t>
            </a:r>
            <a:r>
              <a:rPr lang="en-US" i="1" dirty="0">
                <a:solidFill>
                  <a:schemeClr val="tx1"/>
                </a:solidFill>
                <a:latin typeface="Aptos" panose="020B0004020202020204" pitchFamily="34" charset="0"/>
              </a:rPr>
              <a:t>BEER</a:t>
            </a:r>
            <a:r>
              <a:rPr lang="en-US" dirty="0">
                <a:latin typeface="Aptos" panose="020B0004020202020204" pitchFamily="34" charset="0"/>
              </a:rPr>
              <a:t> remained the top product, while </a:t>
            </a:r>
            <a:r>
              <a:rPr lang="en-US" i="1" dirty="0">
                <a:solidFill>
                  <a:schemeClr val="tx1"/>
                </a:solidFill>
                <a:latin typeface="Aptos" panose="020B0004020202020204" pitchFamily="34" charset="0"/>
              </a:rPr>
              <a:t>WINE</a:t>
            </a:r>
            <a:r>
              <a:rPr lang="en-US" dirty="0">
                <a:latin typeface="Aptos" panose="020B0004020202020204" pitchFamily="34" charset="0"/>
              </a:rPr>
              <a:t> slightly gained market share.</a:t>
            </a:r>
          </a:p>
          <a:p>
            <a:endParaRPr lang="en-US" dirty="0">
              <a:latin typeface="Aptos" panose="020B0004020202020204" pitchFamily="34" charset="0"/>
            </a:endParaRPr>
          </a:p>
          <a:p>
            <a:r>
              <a:rPr lang="en-US" b="1" dirty="0">
                <a:latin typeface="Aptos" panose="020B0004020202020204" pitchFamily="34" charset="0"/>
              </a:rPr>
              <a:t>2019</a:t>
            </a:r>
            <a:r>
              <a:rPr lang="en-US" dirty="0">
                <a:latin typeface="Aptos" panose="020B0004020202020204" pitchFamily="34" charset="0"/>
              </a:rPr>
              <a:t>: </a:t>
            </a:r>
            <a:r>
              <a:rPr lang="en-US" i="1" dirty="0">
                <a:solidFill>
                  <a:schemeClr val="tx1"/>
                </a:solidFill>
                <a:latin typeface="Aptos" panose="020B0004020202020204" pitchFamily="34" charset="0"/>
              </a:rPr>
              <a:t>BEER</a:t>
            </a:r>
            <a:r>
              <a:rPr lang="en-US" dirty="0">
                <a:latin typeface="Aptos" panose="020B0004020202020204" pitchFamily="34" charset="0"/>
              </a:rPr>
              <a:t> retained dominance, with stable performance by </a:t>
            </a:r>
            <a:r>
              <a:rPr lang="en-US" i="1" dirty="0">
                <a:solidFill>
                  <a:schemeClr val="tx1"/>
                </a:solidFill>
                <a:latin typeface="Aptos" panose="020B0004020202020204" pitchFamily="34" charset="0"/>
              </a:rPr>
              <a:t>LIQUOR</a:t>
            </a:r>
            <a:r>
              <a:rPr lang="en-US" dirty="0">
                <a:latin typeface="Aptos" panose="020B0004020202020204" pitchFamily="34" charset="0"/>
              </a:rPr>
              <a:t> and </a:t>
            </a:r>
            <a:r>
              <a:rPr lang="en-US" i="1" dirty="0">
                <a:solidFill>
                  <a:schemeClr val="tx1"/>
                </a:solidFill>
                <a:latin typeface="Aptos" panose="020B0004020202020204" pitchFamily="34" charset="0"/>
              </a:rPr>
              <a:t>WINE</a:t>
            </a:r>
            <a:r>
              <a:rPr lang="en-US" dirty="0">
                <a:latin typeface="Aptos" panose="020B0004020202020204" pitchFamily="34" charset="0"/>
              </a:rPr>
              <a:t>.</a:t>
            </a:r>
          </a:p>
          <a:p>
            <a:r>
              <a:rPr lang="en-US" b="1" dirty="0">
                <a:latin typeface="Aptos" panose="020B0004020202020204" pitchFamily="34" charset="0"/>
              </a:rPr>
              <a:t>2020</a:t>
            </a:r>
            <a:r>
              <a:rPr lang="en-US" dirty="0">
                <a:latin typeface="Aptos" panose="020B0004020202020204" pitchFamily="34" charset="0"/>
              </a:rPr>
              <a:t>: </a:t>
            </a:r>
            <a:r>
              <a:rPr lang="en-US" i="1" dirty="0">
                <a:solidFill>
                  <a:schemeClr val="tx1"/>
                </a:solidFill>
                <a:latin typeface="Aptos" panose="020B0004020202020204" pitchFamily="34" charset="0"/>
              </a:rPr>
              <a:t>BEER</a:t>
            </a:r>
            <a:r>
              <a:rPr lang="en-US" dirty="0">
                <a:latin typeface="Aptos" panose="020B0004020202020204" pitchFamily="34" charset="0"/>
              </a:rPr>
              <a:t> continued to lead, while </a:t>
            </a:r>
            <a:r>
              <a:rPr lang="en-US" i="1" dirty="0">
                <a:solidFill>
                  <a:schemeClr val="tx1"/>
                </a:solidFill>
                <a:latin typeface="Aptos" panose="020B0004020202020204" pitchFamily="34" charset="0"/>
              </a:rPr>
              <a:t>LIQUOR</a:t>
            </a:r>
            <a:r>
              <a:rPr lang="en-US" dirty="0">
                <a:latin typeface="Aptos" panose="020B0004020202020204" pitchFamily="34" charset="0"/>
              </a:rPr>
              <a:t> remained consistent; other types showed minor changes.</a:t>
            </a:r>
          </a:p>
          <a:p>
            <a:endParaRPr lang="en-IN" dirty="0">
              <a:latin typeface="Aptos" panose="020B0004020202020204" pitchFamily="34" charset="0"/>
            </a:endParaRPr>
          </a:p>
        </p:txBody>
      </p:sp>
      <p:pic>
        <p:nvPicPr>
          <p:cNvPr id="3" name="Picture 2">
            <a:extLst>
              <a:ext uri="{FF2B5EF4-FFF2-40B4-BE49-F238E27FC236}">
                <a16:creationId xmlns:a16="http://schemas.microsoft.com/office/drawing/2014/main" id="{465E38C4-35D1-CE34-4AE1-B1DFFF939F95}"/>
              </a:ext>
            </a:extLst>
          </p:cNvPr>
          <p:cNvPicPr>
            <a:picLocks noChangeAspect="1"/>
          </p:cNvPicPr>
          <p:nvPr/>
        </p:nvPicPr>
        <p:blipFill>
          <a:blip r:embed="rId3"/>
          <a:stretch>
            <a:fillRect/>
          </a:stretch>
        </p:blipFill>
        <p:spPr>
          <a:xfrm>
            <a:off x="494289" y="1499957"/>
            <a:ext cx="4285867" cy="33619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09140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7052A7ED-BA98-1CD6-ECDC-3A72C754FAC6}"/>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EC692F71-DEA6-9C71-45D4-98CE5B3FB13D}"/>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Data Visualization #4</a:t>
            </a:r>
            <a:endParaRPr i="1" dirty="0">
              <a:solidFill>
                <a:schemeClr val="tx1"/>
              </a:solidFill>
            </a:endParaRPr>
          </a:p>
        </p:txBody>
      </p:sp>
      <p:cxnSp>
        <p:nvCxnSpPr>
          <p:cNvPr id="256" name="Google Shape;256;p39">
            <a:extLst>
              <a:ext uri="{FF2B5EF4-FFF2-40B4-BE49-F238E27FC236}">
                <a16:creationId xmlns:a16="http://schemas.microsoft.com/office/drawing/2014/main" id="{C35349EE-D30A-2B4D-4595-30411BC7E348}"/>
              </a:ext>
            </a:extLst>
          </p:cNvPr>
          <p:cNvCxnSpPr>
            <a:cxnSpLocks/>
          </p:cNvCxnSpPr>
          <p:nvPr/>
        </p:nvCxnSpPr>
        <p:spPr>
          <a:xfrm>
            <a:off x="4863474" y="1354358"/>
            <a:ext cx="0" cy="361165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94D115B8-965C-800F-0394-8C65BD80459E}"/>
              </a:ext>
            </a:extLst>
          </p:cNvPr>
          <p:cNvSpPr txBox="1"/>
          <p:nvPr/>
        </p:nvSpPr>
        <p:spPr>
          <a:xfrm>
            <a:off x="5010615" y="1734394"/>
            <a:ext cx="3531210" cy="3539430"/>
          </a:xfrm>
          <a:prstGeom prst="rect">
            <a:avLst/>
          </a:prstGeom>
          <a:noFill/>
        </p:spPr>
        <p:txBody>
          <a:bodyPr wrap="square" rtlCol="0">
            <a:spAutoFit/>
          </a:bodyPr>
          <a:lstStyle/>
          <a:p>
            <a:r>
              <a:rPr lang="en-US" b="1" dirty="0">
                <a:solidFill>
                  <a:schemeClr val="tx1"/>
                </a:solidFill>
                <a:latin typeface="Aptos" panose="020B0004020202020204" pitchFamily="34" charset="0"/>
              </a:rPr>
              <a:t>Top 10 Suppliers by Total Sales with Most Saleable ITEM TYPE</a:t>
            </a:r>
          </a:p>
          <a:p>
            <a:endParaRPr lang="en-US" b="1" dirty="0">
              <a:solidFill>
                <a:schemeClr val="tx1"/>
              </a:solidFill>
              <a:latin typeface="Aptos" panose="020B0004020202020204" pitchFamily="34" charset="0"/>
            </a:endParaRPr>
          </a:p>
          <a:p>
            <a:r>
              <a:rPr lang="en-US" b="1" dirty="0">
                <a:latin typeface="Aptos" panose="020B0004020202020204" pitchFamily="34" charset="0"/>
              </a:rPr>
              <a:t>- </a:t>
            </a:r>
            <a:r>
              <a:rPr lang="en-US" i="1" dirty="0">
                <a:solidFill>
                  <a:schemeClr val="tx1"/>
                </a:solidFill>
                <a:latin typeface="Aptos" panose="020B0004020202020204" pitchFamily="34" charset="0"/>
              </a:rPr>
              <a:t>CROWN IMPORTS</a:t>
            </a:r>
            <a:r>
              <a:rPr lang="en-US" dirty="0">
                <a:solidFill>
                  <a:schemeClr val="tx1"/>
                </a:solidFill>
                <a:latin typeface="Aptos" panose="020B0004020202020204" pitchFamily="34" charset="0"/>
              </a:rPr>
              <a:t> </a:t>
            </a:r>
            <a:r>
              <a:rPr lang="en-US" dirty="0">
                <a:latin typeface="Aptos" panose="020B0004020202020204" pitchFamily="34" charset="0"/>
              </a:rPr>
              <a:t>recorded the highest total sales, driven mainly by </a:t>
            </a:r>
            <a:r>
              <a:rPr lang="en-US" i="1" dirty="0">
                <a:solidFill>
                  <a:schemeClr val="tx1"/>
                </a:solidFill>
                <a:latin typeface="Aptos" panose="020B0004020202020204" pitchFamily="34" charset="0"/>
              </a:rPr>
              <a:t>BEER</a:t>
            </a:r>
            <a:r>
              <a:rPr lang="en-US" dirty="0">
                <a:latin typeface="Aptos" panose="020B0004020202020204" pitchFamily="34" charset="0"/>
              </a:rPr>
              <a:t> products.</a:t>
            </a:r>
          </a:p>
          <a:p>
            <a:r>
              <a:rPr lang="en-US" b="1" dirty="0">
                <a:latin typeface="Aptos" panose="020B0004020202020204" pitchFamily="34" charset="0"/>
              </a:rPr>
              <a:t>- </a:t>
            </a:r>
            <a:r>
              <a:rPr lang="en-US" dirty="0">
                <a:latin typeface="Aptos" panose="020B0004020202020204" pitchFamily="34" charset="0"/>
              </a:rPr>
              <a:t>The top four suppliers are all </a:t>
            </a:r>
            <a:r>
              <a:rPr lang="en-US" i="1" dirty="0">
                <a:solidFill>
                  <a:schemeClr val="tx1"/>
                </a:solidFill>
                <a:latin typeface="Aptos" panose="020B0004020202020204" pitchFamily="34" charset="0"/>
              </a:rPr>
              <a:t>BEER</a:t>
            </a:r>
            <a:r>
              <a:rPr lang="en-US" dirty="0">
                <a:solidFill>
                  <a:schemeClr val="tx1"/>
                </a:solidFill>
                <a:latin typeface="Aptos" panose="020B0004020202020204" pitchFamily="34" charset="0"/>
              </a:rPr>
              <a:t>-focused</a:t>
            </a:r>
            <a:r>
              <a:rPr lang="en-US" dirty="0">
                <a:latin typeface="Aptos" panose="020B0004020202020204" pitchFamily="34" charset="0"/>
              </a:rPr>
              <a:t>, highlighting beer’s dominance in sales.</a:t>
            </a:r>
          </a:p>
          <a:p>
            <a:r>
              <a:rPr lang="en-US" b="1" dirty="0">
                <a:latin typeface="Aptos" panose="020B0004020202020204" pitchFamily="34" charset="0"/>
              </a:rPr>
              <a:t>-</a:t>
            </a:r>
            <a:r>
              <a:rPr lang="en-US" dirty="0">
                <a:latin typeface="Aptos" panose="020B0004020202020204" pitchFamily="34" charset="0"/>
              </a:rPr>
              <a:t> </a:t>
            </a:r>
            <a:r>
              <a:rPr lang="en-US" i="1" dirty="0">
                <a:solidFill>
                  <a:schemeClr val="tx1"/>
                </a:solidFill>
                <a:latin typeface="Aptos" panose="020B0004020202020204" pitchFamily="34" charset="0"/>
              </a:rPr>
              <a:t>E &amp; J GALLO WINERY</a:t>
            </a:r>
            <a:r>
              <a:rPr lang="en-US" dirty="0">
                <a:solidFill>
                  <a:schemeClr val="tx1"/>
                </a:solidFill>
                <a:latin typeface="Aptos" panose="020B0004020202020204" pitchFamily="34" charset="0"/>
              </a:rPr>
              <a:t> </a:t>
            </a:r>
            <a:r>
              <a:rPr lang="en-US" dirty="0">
                <a:latin typeface="Aptos" panose="020B0004020202020204" pitchFamily="34" charset="0"/>
              </a:rPr>
              <a:t>and </a:t>
            </a:r>
            <a:r>
              <a:rPr lang="en-US" i="1" dirty="0">
                <a:solidFill>
                  <a:schemeClr val="tx1"/>
                </a:solidFill>
                <a:latin typeface="Aptos" panose="020B0004020202020204" pitchFamily="34" charset="0"/>
              </a:rPr>
              <a:t>CONSTELLATION BRANDS</a:t>
            </a:r>
            <a:r>
              <a:rPr lang="en-US" dirty="0">
                <a:solidFill>
                  <a:schemeClr val="tx1"/>
                </a:solidFill>
                <a:latin typeface="Aptos" panose="020B0004020202020204" pitchFamily="34" charset="0"/>
              </a:rPr>
              <a:t> </a:t>
            </a:r>
            <a:r>
              <a:rPr lang="en-US" dirty="0">
                <a:latin typeface="Aptos" panose="020B0004020202020204" pitchFamily="34" charset="0"/>
              </a:rPr>
              <a:t>led in </a:t>
            </a:r>
            <a:r>
              <a:rPr lang="en-US" dirty="0">
                <a:solidFill>
                  <a:schemeClr val="tx1"/>
                </a:solidFill>
                <a:latin typeface="Aptos" panose="020B0004020202020204" pitchFamily="34" charset="0"/>
              </a:rPr>
              <a:t>WINE</a:t>
            </a:r>
            <a:r>
              <a:rPr lang="en-US" dirty="0">
                <a:latin typeface="Aptos" panose="020B0004020202020204" pitchFamily="34" charset="0"/>
              </a:rPr>
              <a:t> distribution.</a:t>
            </a:r>
          </a:p>
          <a:p>
            <a:r>
              <a:rPr lang="en-US" b="1" dirty="0">
                <a:latin typeface="Aptos" panose="020B0004020202020204" pitchFamily="34" charset="0"/>
              </a:rPr>
              <a:t>-</a:t>
            </a:r>
            <a:r>
              <a:rPr lang="en-US" dirty="0">
                <a:latin typeface="Aptos" panose="020B0004020202020204" pitchFamily="34" charset="0"/>
              </a:rPr>
              <a:t> </a:t>
            </a:r>
            <a:r>
              <a:rPr lang="en-US" i="1" dirty="0">
                <a:solidFill>
                  <a:schemeClr val="tx1"/>
                </a:solidFill>
                <a:latin typeface="Aptos" panose="020B0004020202020204" pitchFamily="34" charset="0"/>
              </a:rPr>
              <a:t>DIAGEO NORTH AMERICA INC</a:t>
            </a:r>
            <a:r>
              <a:rPr lang="en-US" dirty="0">
                <a:solidFill>
                  <a:schemeClr val="tx1"/>
                </a:solidFill>
                <a:latin typeface="Aptos" panose="020B0004020202020204" pitchFamily="34" charset="0"/>
              </a:rPr>
              <a:t> </a:t>
            </a:r>
            <a:r>
              <a:rPr lang="en-US" dirty="0">
                <a:latin typeface="Aptos" panose="020B0004020202020204" pitchFamily="34" charset="0"/>
              </a:rPr>
              <a:t>and </a:t>
            </a:r>
            <a:r>
              <a:rPr lang="en-US" i="1" dirty="0">
                <a:solidFill>
                  <a:schemeClr val="tx1"/>
                </a:solidFill>
                <a:latin typeface="Aptos" panose="020B0004020202020204" pitchFamily="34" charset="0"/>
              </a:rPr>
              <a:t>JIM BEAM BRANDS CO</a:t>
            </a:r>
            <a:r>
              <a:rPr lang="en-US" dirty="0">
                <a:latin typeface="Aptos" panose="020B0004020202020204" pitchFamily="34" charset="0"/>
              </a:rPr>
              <a:t> were top contributors in </a:t>
            </a:r>
            <a:r>
              <a:rPr lang="en-US" i="1" dirty="0">
                <a:solidFill>
                  <a:schemeClr val="tx1"/>
                </a:solidFill>
                <a:latin typeface="Aptos" panose="020B0004020202020204" pitchFamily="34" charset="0"/>
              </a:rPr>
              <a:t>LIQUOR</a:t>
            </a:r>
            <a:r>
              <a:rPr lang="en-US" dirty="0">
                <a:latin typeface="Aptos" panose="020B0004020202020204" pitchFamily="34" charset="0"/>
              </a:rPr>
              <a:t> sales.</a:t>
            </a:r>
          </a:p>
          <a:p>
            <a:endParaRPr lang="en-IN" dirty="0">
              <a:latin typeface="Aptos" panose="020B0004020202020204" pitchFamily="34" charset="0"/>
            </a:endParaRPr>
          </a:p>
        </p:txBody>
      </p:sp>
      <p:pic>
        <p:nvPicPr>
          <p:cNvPr id="4" name="Picture 3">
            <a:extLst>
              <a:ext uri="{FF2B5EF4-FFF2-40B4-BE49-F238E27FC236}">
                <a16:creationId xmlns:a16="http://schemas.microsoft.com/office/drawing/2014/main" id="{6B63BA31-637C-A62D-4BBB-24DDDADD9015}"/>
              </a:ext>
            </a:extLst>
          </p:cNvPr>
          <p:cNvPicPr>
            <a:picLocks noChangeAspect="1"/>
          </p:cNvPicPr>
          <p:nvPr/>
        </p:nvPicPr>
        <p:blipFill>
          <a:blip r:embed="rId3"/>
          <a:stretch>
            <a:fillRect/>
          </a:stretch>
        </p:blipFill>
        <p:spPr>
          <a:xfrm>
            <a:off x="461123" y="1354358"/>
            <a:ext cx="4311599" cy="37891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81071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8A57D122-A1CE-E45E-132E-554C9440DCC9}"/>
            </a:ext>
          </a:extLst>
        </p:cNvPr>
        <p:cNvGrpSpPr/>
        <p:nvPr/>
      </p:nvGrpSpPr>
      <p:grpSpPr>
        <a:xfrm>
          <a:off x="0" y="0"/>
          <a:ext cx="0" cy="0"/>
          <a:chOff x="0" y="0"/>
          <a:chExt cx="0" cy="0"/>
        </a:xfrm>
      </p:grpSpPr>
      <p:sp>
        <p:nvSpPr>
          <p:cNvPr id="244" name="Google Shape;244;p38">
            <a:extLst>
              <a:ext uri="{FF2B5EF4-FFF2-40B4-BE49-F238E27FC236}">
                <a16:creationId xmlns:a16="http://schemas.microsoft.com/office/drawing/2014/main" id="{2AA4CBCF-C177-9981-0B13-81FA8BE76729}"/>
              </a:ext>
            </a:extLst>
          </p:cNvPr>
          <p:cNvSpPr txBox="1">
            <a:spLocks noGrp="1"/>
          </p:cNvSpPr>
          <p:nvPr>
            <p:ph type="title"/>
          </p:nvPr>
        </p:nvSpPr>
        <p:spPr>
          <a:xfrm>
            <a:off x="3397990" y="1536713"/>
            <a:ext cx="49374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Feature</a:t>
            </a:r>
            <a:br>
              <a:rPr lang="en" dirty="0"/>
            </a:br>
            <a:r>
              <a:rPr lang="en" dirty="0"/>
              <a:t>Engineering</a:t>
            </a:r>
            <a:endParaRPr dirty="0"/>
          </a:p>
        </p:txBody>
      </p:sp>
      <p:sp>
        <p:nvSpPr>
          <p:cNvPr id="246" name="Google Shape;246;p38">
            <a:extLst>
              <a:ext uri="{FF2B5EF4-FFF2-40B4-BE49-F238E27FC236}">
                <a16:creationId xmlns:a16="http://schemas.microsoft.com/office/drawing/2014/main" id="{81ED31F4-CAAD-C6E7-25A5-1A079A1FB5FA}"/>
              </a:ext>
            </a:extLst>
          </p:cNvPr>
          <p:cNvSpPr txBox="1">
            <a:spLocks noGrp="1"/>
          </p:cNvSpPr>
          <p:nvPr>
            <p:ph type="title" idx="2"/>
          </p:nvPr>
        </p:nvSpPr>
        <p:spPr>
          <a:xfrm>
            <a:off x="3397990" y="941033"/>
            <a:ext cx="1192500" cy="46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cxnSp>
        <p:nvCxnSpPr>
          <p:cNvPr id="247" name="Google Shape;247;p38">
            <a:extLst>
              <a:ext uri="{FF2B5EF4-FFF2-40B4-BE49-F238E27FC236}">
                <a16:creationId xmlns:a16="http://schemas.microsoft.com/office/drawing/2014/main" id="{92C07D15-B030-3148-EB80-FC6075166305}"/>
              </a:ext>
            </a:extLst>
          </p:cNvPr>
          <p:cNvCxnSpPr>
            <a:cxnSpLocks/>
          </p:cNvCxnSpPr>
          <p:nvPr/>
        </p:nvCxnSpPr>
        <p:spPr>
          <a:xfrm>
            <a:off x="3332175" y="1766220"/>
            <a:ext cx="0" cy="2897065"/>
          </a:xfrm>
          <a:prstGeom prst="straightConnector1">
            <a:avLst/>
          </a:prstGeom>
          <a:noFill/>
          <a:ln w="28575" cap="flat" cmpd="sng">
            <a:solidFill>
              <a:schemeClr val="dk2"/>
            </a:solidFill>
            <a:prstDash val="solid"/>
            <a:round/>
            <a:headEnd type="none" w="med" len="med"/>
            <a:tailEnd type="none" w="med" len="med"/>
          </a:ln>
        </p:spPr>
      </p:cxnSp>
      <p:pic>
        <p:nvPicPr>
          <p:cNvPr id="249" name="Google Shape;249;p38">
            <a:extLst>
              <a:ext uri="{FF2B5EF4-FFF2-40B4-BE49-F238E27FC236}">
                <a16:creationId xmlns:a16="http://schemas.microsoft.com/office/drawing/2014/main" id="{4F2E8BC8-6EF2-7AA3-F4C5-D6495C0020E0}"/>
              </a:ext>
            </a:extLst>
          </p:cNvPr>
          <p:cNvPicPr preferRelativeResize="0">
            <a:picLocks noGrp="1"/>
          </p:cNvPicPr>
          <p:nvPr>
            <p:ph type="pic" idx="4"/>
          </p:nvPr>
        </p:nvPicPr>
        <p:blipFill rotWithShape="1">
          <a:blip r:embed="rId3">
            <a:alphaModFix/>
          </a:blip>
          <a:srcRect t="961" b="951"/>
          <a:stretch/>
        </p:blipFill>
        <p:spPr>
          <a:xfrm>
            <a:off x="0" y="480215"/>
            <a:ext cx="3168900" cy="4663500"/>
          </a:xfrm>
          <a:prstGeom prst="round1Rect">
            <a:avLst>
              <a:gd name="adj" fmla="val 16667"/>
            </a:avLst>
          </a:prstGeom>
        </p:spPr>
      </p:pic>
      <p:sp>
        <p:nvSpPr>
          <p:cNvPr id="3" name="TextBox 2">
            <a:extLst>
              <a:ext uri="{FF2B5EF4-FFF2-40B4-BE49-F238E27FC236}">
                <a16:creationId xmlns:a16="http://schemas.microsoft.com/office/drawing/2014/main" id="{950027D5-7831-EFF5-D205-117475847C1B}"/>
              </a:ext>
            </a:extLst>
          </p:cNvPr>
          <p:cNvSpPr txBox="1"/>
          <p:nvPr/>
        </p:nvSpPr>
        <p:spPr>
          <a:xfrm>
            <a:off x="3458919" y="3404477"/>
            <a:ext cx="4705813" cy="307777"/>
          </a:xfrm>
          <a:prstGeom prst="rect">
            <a:avLst/>
          </a:prstGeom>
          <a:noFill/>
        </p:spPr>
        <p:txBody>
          <a:bodyPr wrap="square" rtlCol="0">
            <a:spAutoFit/>
          </a:bodyPr>
          <a:lstStyle/>
          <a:p>
            <a:r>
              <a:rPr lang="en-US" dirty="0">
                <a:solidFill>
                  <a:schemeClr val="bg2"/>
                </a:solidFill>
                <a:latin typeface="Aptos" panose="020B0004020202020204" pitchFamily="34" charset="0"/>
              </a:rPr>
              <a:t>-&gt; Creating </a:t>
            </a:r>
            <a:r>
              <a:rPr lang="en-US" dirty="0" err="1">
                <a:solidFill>
                  <a:schemeClr val="bg2"/>
                </a:solidFill>
                <a:latin typeface="Aptos" panose="020B0004020202020204" pitchFamily="34" charset="0"/>
              </a:rPr>
              <a:t>feature_df</a:t>
            </a:r>
            <a:r>
              <a:rPr lang="en-US" dirty="0">
                <a:solidFill>
                  <a:schemeClr val="bg2"/>
                </a:solidFill>
                <a:latin typeface="Aptos" panose="020B0004020202020204" pitchFamily="34" charset="0"/>
              </a:rPr>
              <a:t> </a:t>
            </a:r>
            <a:r>
              <a:rPr lang="en-US" dirty="0" err="1">
                <a:solidFill>
                  <a:schemeClr val="bg2"/>
                </a:solidFill>
                <a:latin typeface="Aptos" panose="020B0004020202020204" pitchFamily="34" charset="0"/>
              </a:rPr>
              <a:t>DataFrame</a:t>
            </a:r>
            <a:r>
              <a:rPr lang="en-US" dirty="0">
                <a:solidFill>
                  <a:schemeClr val="bg2"/>
                </a:solidFill>
                <a:latin typeface="Aptos" panose="020B0004020202020204" pitchFamily="34" charset="0"/>
              </a:rPr>
              <a:t> for Model Building</a:t>
            </a:r>
          </a:p>
        </p:txBody>
      </p:sp>
    </p:spTree>
    <p:extLst>
      <p:ext uri="{BB962C8B-B14F-4D97-AF65-F5344CB8AC3E}">
        <p14:creationId xmlns:p14="http://schemas.microsoft.com/office/powerpoint/2010/main" val="3192486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9C39B775-2CF5-3926-3E55-194F368D7EB2}"/>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066597C6-B262-2000-58AE-7FBA473A1ADD}"/>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Feature Engineering</a:t>
            </a:r>
            <a:endParaRPr i="1" dirty="0">
              <a:solidFill>
                <a:schemeClr val="tx1"/>
              </a:solidFill>
            </a:endParaRPr>
          </a:p>
        </p:txBody>
      </p:sp>
      <p:cxnSp>
        <p:nvCxnSpPr>
          <p:cNvPr id="256" name="Google Shape;256;p39">
            <a:extLst>
              <a:ext uri="{FF2B5EF4-FFF2-40B4-BE49-F238E27FC236}">
                <a16:creationId xmlns:a16="http://schemas.microsoft.com/office/drawing/2014/main" id="{E64EBA98-5163-F9C4-2767-4D619DCF4817}"/>
              </a:ext>
            </a:extLst>
          </p:cNvPr>
          <p:cNvCxnSpPr>
            <a:cxnSpLocks/>
          </p:cNvCxnSpPr>
          <p:nvPr/>
        </p:nvCxnSpPr>
        <p:spPr>
          <a:xfrm>
            <a:off x="4438186" y="2044390"/>
            <a:ext cx="0" cy="283984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 name="TextBox 4">
            <a:extLst>
              <a:ext uri="{FF2B5EF4-FFF2-40B4-BE49-F238E27FC236}">
                <a16:creationId xmlns:a16="http://schemas.microsoft.com/office/drawing/2014/main" id="{CEB6B788-B3D5-8D53-4DB8-22A50ECBDC6E}"/>
              </a:ext>
            </a:extLst>
          </p:cNvPr>
          <p:cNvSpPr txBox="1"/>
          <p:nvPr/>
        </p:nvSpPr>
        <p:spPr>
          <a:xfrm>
            <a:off x="940420" y="1775691"/>
            <a:ext cx="3297042" cy="3108543"/>
          </a:xfrm>
          <a:prstGeom prst="rect">
            <a:avLst/>
          </a:prstGeom>
          <a:noFill/>
        </p:spPr>
        <p:txBody>
          <a:bodyPr wrap="square">
            <a:spAutoFit/>
          </a:bodyPr>
          <a:lstStyle/>
          <a:p>
            <a:r>
              <a:rPr lang="en-US" b="1" dirty="0">
                <a:solidFill>
                  <a:schemeClr val="tx1"/>
                </a:solidFill>
              </a:rPr>
              <a:t>Feature Name</a:t>
            </a:r>
          </a:p>
          <a:p>
            <a:r>
              <a:rPr lang="en-US" dirty="0"/>
              <a:t>	</a:t>
            </a:r>
          </a:p>
          <a:p>
            <a:r>
              <a:rPr lang="en-US" dirty="0"/>
              <a:t>ITEM TYPE	</a:t>
            </a:r>
          </a:p>
          <a:p>
            <a:r>
              <a:rPr lang="en-US" dirty="0"/>
              <a:t>RETAIL_SALES_MEAN	</a:t>
            </a:r>
          </a:p>
          <a:p>
            <a:r>
              <a:rPr lang="en-US" dirty="0"/>
              <a:t>RETAIL_SALES_SUM	</a:t>
            </a:r>
          </a:p>
          <a:p>
            <a:r>
              <a:rPr lang="en-US" dirty="0"/>
              <a:t>RETAIL_SALES_STD	</a:t>
            </a:r>
          </a:p>
          <a:p>
            <a:r>
              <a:rPr lang="en-US" dirty="0"/>
              <a:t>RETAIL_TRANSFERS_MEAN	</a:t>
            </a:r>
          </a:p>
          <a:p>
            <a:r>
              <a:rPr lang="en-US" dirty="0"/>
              <a:t>RETAIL_TRANSFERS_SUM	</a:t>
            </a:r>
          </a:p>
          <a:p>
            <a:r>
              <a:rPr lang="en-US" dirty="0"/>
              <a:t>RETAIL_TRANSFERS_STD	</a:t>
            </a:r>
          </a:p>
          <a:p>
            <a:r>
              <a:rPr lang="en-US" dirty="0"/>
              <a:t>WAREHOUSE_SALES_MEAN	</a:t>
            </a:r>
          </a:p>
          <a:p>
            <a:r>
              <a:rPr lang="en-US" dirty="0"/>
              <a:t>WAREHOUSE_SALES_SUM	</a:t>
            </a:r>
          </a:p>
          <a:p>
            <a:r>
              <a:rPr lang="en-US" dirty="0"/>
              <a:t>WAREHOUSE_SALES_STD	</a:t>
            </a:r>
          </a:p>
          <a:p>
            <a:r>
              <a:rPr lang="en-US" dirty="0"/>
              <a:t>TOTAL_SALES	</a:t>
            </a:r>
          </a:p>
          <a:p>
            <a:r>
              <a:rPr lang="en-US" dirty="0"/>
              <a:t>SALES_2017 to SALES_2020	</a:t>
            </a:r>
          </a:p>
        </p:txBody>
      </p:sp>
      <p:sp>
        <p:nvSpPr>
          <p:cNvPr id="6" name="TextBox 5">
            <a:extLst>
              <a:ext uri="{FF2B5EF4-FFF2-40B4-BE49-F238E27FC236}">
                <a16:creationId xmlns:a16="http://schemas.microsoft.com/office/drawing/2014/main" id="{86E759A3-4BD9-D36A-8F55-1C6973767877}"/>
              </a:ext>
            </a:extLst>
          </p:cNvPr>
          <p:cNvSpPr txBox="1"/>
          <p:nvPr/>
        </p:nvSpPr>
        <p:spPr>
          <a:xfrm>
            <a:off x="4679760" y="1778521"/>
            <a:ext cx="4014437" cy="3108543"/>
          </a:xfrm>
          <a:prstGeom prst="rect">
            <a:avLst/>
          </a:prstGeom>
          <a:noFill/>
        </p:spPr>
        <p:txBody>
          <a:bodyPr wrap="square">
            <a:spAutoFit/>
          </a:bodyPr>
          <a:lstStyle/>
          <a:p>
            <a:r>
              <a:rPr lang="en-US" b="1" dirty="0">
                <a:solidFill>
                  <a:schemeClr val="tx1"/>
                </a:solidFill>
              </a:rPr>
              <a:t>Description</a:t>
            </a:r>
            <a:r>
              <a:rPr lang="en-US" dirty="0"/>
              <a:t>	</a:t>
            </a:r>
          </a:p>
          <a:p>
            <a:endParaRPr lang="en-US" dirty="0"/>
          </a:p>
          <a:p>
            <a:r>
              <a:rPr lang="en-US" dirty="0"/>
              <a:t>Product type identifier	</a:t>
            </a:r>
          </a:p>
          <a:p>
            <a:r>
              <a:rPr lang="en-US" dirty="0"/>
              <a:t>Average retail sale per record	</a:t>
            </a:r>
          </a:p>
          <a:p>
            <a:r>
              <a:rPr lang="en-US" dirty="0"/>
              <a:t>Total retail sales	</a:t>
            </a:r>
          </a:p>
          <a:p>
            <a:r>
              <a:rPr lang="en-US" dirty="0"/>
              <a:t>Standard deviation of retail sales	</a:t>
            </a:r>
          </a:p>
          <a:p>
            <a:r>
              <a:rPr lang="en-US" dirty="0"/>
              <a:t>Average retail transfer per record	</a:t>
            </a:r>
          </a:p>
          <a:p>
            <a:r>
              <a:rPr lang="en-US" dirty="0"/>
              <a:t>Total retail transfers	</a:t>
            </a:r>
          </a:p>
          <a:p>
            <a:r>
              <a:rPr lang="en-US" dirty="0"/>
              <a:t>Standard deviation of retail </a:t>
            </a:r>
            <a:r>
              <a:rPr lang="en-US" dirty="0" err="1"/>
              <a:t>transfe</a:t>
            </a:r>
            <a:r>
              <a:rPr lang="en-US" dirty="0"/>
              <a:t>	</a:t>
            </a:r>
          </a:p>
          <a:p>
            <a:r>
              <a:rPr lang="en-US" dirty="0"/>
              <a:t>Average warehouse sale per </a:t>
            </a:r>
            <a:r>
              <a:rPr lang="en-US" dirty="0" err="1"/>
              <a:t>recor</a:t>
            </a:r>
            <a:r>
              <a:rPr lang="en-US" dirty="0"/>
              <a:t>	</a:t>
            </a:r>
          </a:p>
          <a:p>
            <a:r>
              <a:rPr lang="en-US" dirty="0"/>
              <a:t>Total warehouse sales	</a:t>
            </a:r>
          </a:p>
          <a:p>
            <a:r>
              <a:rPr lang="en-US" dirty="0"/>
              <a:t>Standard deviation of warehouse sales</a:t>
            </a:r>
          </a:p>
          <a:p>
            <a:r>
              <a:rPr lang="en-US" dirty="0"/>
              <a:t>Combined total of all sales types	</a:t>
            </a:r>
          </a:p>
          <a:p>
            <a:r>
              <a:rPr lang="en-US" dirty="0"/>
              <a:t>Year-wise total sales from 2017 to 2020	</a:t>
            </a:r>
          </a:p>
        </p:txBody>
      </p:sp>
      <p:sp>
        <p:nvSpPr>
          <p:cNvPr id="10" name="TextBox 9">
            <a:extLst>
              <a:ext uri="{FF2B5EF4-FFF2-40B4-BE49-F238E27FC236}">
                <a16:creationId xmlns:a16="http://schemas.microsoft.com/office/drawing/2014/main" id="{CE0E19F8-E2CB-CD8C-573D-8B2ACAB36B53}"/>
              </a:ext>
            </a:extLst>
          </p:cNvPr>
          <p:cNvSpPr txBox="1"/>
          <p:nvPr/>
        </p:nvSpPr>
        <p:spPr>
          <a:xfrm>
            <a:off x="940420" y="1226634"/>
            <a:ext cx="7478680" cy="523220"/>
          </a:xfrm>
          <a:prstGeom prst="rect">
            <a:avLst/>
          </a:prstGeom>
          <a:noFill/>
        </p:spPr>
        <p:txBody>
          <a:bodyPr wrap="square" rtlCol="0">
            <a:spAutoFit/>
          </a:bodyPr>
          <a:lstStyle/>
          <a:p>
            <a:r>
              <a:rPr lang="en-US" dirty="0">
                <a:latin typeface="Aptos" panose="020B0004020202020204" pitchFamily="34" charset="0"/>
              </a:rPr>
              <a:t>Created new features to enhance clustering performance, including ITEM TYPE and sales-based metrics such as </a:t>
            </a:r>
            <a:r>
              <a:rPr lang="en-US" i="1" dirty="0">
                <a:solidFill>
                  <a:schemeClr val="tx1"/>
                </a:solidFill>
                <a:latin typeface="Aptos" panose="020B0004020202020204" pitchFamily="34" charset="0"/>
              </a:rPr>
              <a:t>RETAIL_SALES_MEAN</a:t>
            </a:r>
            <a:r>
              <a:rPr lang="en-US" dirty="0">
                <a:solidFill>
                  <a:schemeClr val="tx1"/>
                </a:solidFill>
                <a:latin typeface="Aptos" panose="020B0004020202020204" pitchFamily="34" charset="0"/>
              </a:rPr>
              <a:t>, </a:t>
            </a:r>
            <a:r>
              <a:rPr lang="en-US" i="1" dirty="0">
                <a:solidFill>
                  <a:schemeClr val="tx1"/>
                </a:solidFill>
                <a:latin typeface="Aptos" panose="020B0004020202020204" pitchFamily="34" charset="0"/>
              </a:rPr>
              <a:t>TOTAL_SALES</a:t>
            </a:r>
            <a:r>
              <a:rPr lang="en-US" dirty="0">
                <a:latin typeface="Aptos" panose="020B0004020202020204" pitchFamily="34" charset="0"/>
              </a:rPr>
              <a:t>, and </a:t>
            </a:r>
            <a:r>
              <a:rPr lang="en-US" i="1" dirty="0">
                <a:solidFill>
                  <a:schemeClr val="tx1"/>
                </a:solidFill>
                <a:latin typeface="Aptos" panose="020B0004020202020204" pitchFamily="34" charset="0"/>
              </a:rPr>
              <a:t>SALES_2017–2020</a:t>
            </a:r>
            <a:r>
              <a:rPr lang="en-US" dirty="0">
                <a:latin typeface="Aptos" panose="020B0004020202020204" pitchFamily="34" charset="0"/>
              </a:rPr>
              <a:t>.</a:t>
            </a:r>
            <a:endParaRPr lang="en-IN" dirty="0">
              <a:latin typeface="Aptos" panose="020B0004020202020204" pitchFamily="34" charset="0"/>
            </a:endParaRPr>
          </a:p>
        </p:txBody>
      </p:sp>
    </p:spTree>
    <p:extLst>
      <p:ext uri="{BB962C8B-B14F-4D97-AF65-F5344CB8AC3E}">
        <p14:creationId xmlns:p14="http://schemas.microsoft.com/office/powerpoint/2010/main" val="1695074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2A108145-CE7C-3D29-01B7-7D15AF64ED7F}"/>
            </a:ext>
          </a:extLst>
        </p:cNvPr>
        <p:cNvGrpSpPr/>
        <p:nvPr/>
      </p:nvGrpSpPr>
      <p:grpSpPr>
        <a:xfrm>
          <a:off x="0" y="0"/>
          <a:ext cx="0" cy="0"/>
          <a:chOff x="0" y="0"/>
          <a:chExt cx="0" cy="0"/>
        </a:xfrm>
      </p:grpSpPr>
      <p:sp>
        <p:nvSpPr>
          <p:cNvPr id="244" name="Google Shape;244;p38">
            <a:extLst>
              <a:ext uri="{FF2B5EF4-FFF2-40B4-BE49-F238E27FC236}">
                <a16:creationId xmlns:a16="http://schemas.microsoft.com/office/drawing/2014/main" id="{4ACB9508-AC51-8358-9E31-DAEA55654BF0}"/>
              </a:ext>
            </a:extLst>
          </p:cNvPr>
          <p:cNvSpPr txBox="1">
            <a:spLocks noGrp="1"/>
          </p:cNvSpPr>
          <p:nvPr>
            <p:ph type="title"/>
          </p:nvPr>
        </p:nvSpPr>
        <p:spPr>
          <a:xfrm>
            <a:off x="3397990" y="1536713"/>
            <a:ext cx="49374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Scaling &amp;</a:t>
            </a:r>
            <a:br>
              <a:rPr lang="en" dirty="0"/>
            </a:br>
            <a:r>
              <a:rPr lang="en" dirty="0"/>
              <a:t>Model Building</a:t>
            </a:r>
            <a:endParaRPr dirty="0"/>
          </a:p>
        </p:txBody>
      </p:sp>
      <p:sp>
        <p:nvSpPr>
          <p:cNvPr id="246" name="Google Shape;246;p38">
            <a:extLst>
              <a:ext uri="{FF2B5EF4-FFF2-40B4-BE49-F238E27FC236}">
                <a16:creationId xmlns:a16="http://schemas.microsoft.com/office/drawing/2014/main" id="{AF89AA6E-EDD9-CB1F-A469-8A17394EEAA4}"/>
              </a:ext>
            </a:extLst>
          </p:cNvPr>
          <p:cNvSpPr txBox="1">
            <a:spLocks noGrp="1"/>
          </p:cNvSpPr>
          <p:nvPr>
            <p:ph type="title" idx="2"/>
          </p:nvPr>
        </p:nvSpPr>
        <p:spPr>
          <a:xfrm>
            <a:off x="3397990" y="941033"/>
            <a:ext cx="1192500" cy="46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cxnSp>
        <p:nvCxnSpPr>
          <p:cNvPr id="247" name="Google Shape;247;p38">
            <a:extLst>
              <a:ext uri="{FF2B5EF4-FFF2-40B4-BE49-F238E27FC236}">
                <a16:creationId xmlns:a16="http://schemas.microsoft.com/office/drawing/2014/main" id="{95E8CCC5-FF55-D8ED-520E-8CC4D954E87D}"/>
              </a:ext>
            </a:extLst>
          </p:cNvPr>
          <p:cNvCxnSpPr>
            <a:cxnSpLocks/>
          </p:cNvCxnSpPr>
          <p:nvPr/>
        </p:nvCxnSpPr>
        <p:spPr>
          <a:xfrm>
            <a:off x="3332175" y="1766220"/>
            <a:ext cx="0" cy="2897065"/>
          </a:xfrm>
          <a:prstGeom prst="straightConnector1">
            <a:avLst/>
          </a:prstGeom>
          <a:noFill/>
          <a:ln w="28575" cap="flat" cmpd="sng">
            <a:solidFill>
              <a:schemeClr val="dk2"/>
            </a:solidFill>
            <a:prstDash val="solid"/>
            <a:round/>
            <a:headEnd type="none" w="med" len="med"/>
            <a:tailEnd type="none" w="med" len="med"/>
          </a:ln>
        </p:spPr>
      </p:cxnSp>
      <p:pic>
        <p:nvPicPr>
          <p:cNvPr id="249" name="Google Shape;249;p38">
            <a:extLst>
              <a:ext uri="{FF2B5EF4-FFF2-40B4-BE49-F238E27FC236}">
                <a16:creationId xmlns:a16="http://schemas.microsoft.com/office/drawing/2014/main" id="{B6C9AE14-CD59-B4F5-5EB3-7671288CCCF2}"/>
              </a:ext>
            </a:extLst>
          </p:cNvPr>
          <p:cNvPicPr preferRelativeResize="0">
            <a:picLocks noGrp="1"/>
          </p:cNvPicPr>
          <p:nvPr>
            <p:ph type="pic" idx="4"/>
          </p:nvPr>
        </p:nvPicPr>
        <p:blipFill rotWithShape="1">
          <a:blip r:embed="rId3">
            <a:alphaModFix/>
          </a:blip>
          <a:srcRect t="961" b="951"/>
          <a:stretch/>
        </p:blipFill>
        <p:spPr>
          <a:xfrm>
            <a:off x="0" y="480215"/>
            <a:ext cx="3168900" cy="4663500"/>
          </a:xfrm>
          <a:prstGeom prst="round1Rect">
            <a:avLst>
              <a:gd name="adj" fmla="val 16667"/>
            </a:avLst>
          </a:prstGeom>
        </p:spPr>
      </p:pic>
      <p:sp>
        <p:nvSpPr>
          <p:cNvPr id="3" name="TextBox 2">
            <a:extLst>
              <a:ext uri="{FF2B5EF4-FFF2-40B4-BE49-F238E27FC236}">
                <a16:creationId xmlns:a16="http://schemas.microsoft.com/office/drawing/2014/main" id="{B2E0469C-6439-B204-C7E5-E0E2CF4FE72B}"/>
              </a:ext>
            </a:extLst>
          </p:cNvPr>
          <p:cNvSpPr txBox="1"/>
          <p:nvPr/>
        </p:nvSpPr>
        <p:spPr>
          <a:xfrm>
            <a:off x="3458919" y="3404477"/>
            <a:ext cx="4705813" cy="738664"/>
          </a:xfrm>
          <a:prstGeom prst="rect">
            <a:avLst/>
          </a:prstGeom>
          <a:noFill/>
        </p:spPr>
        <p:txBody>
          <a:bodyPr wrap="square" rtlCol="0">
            <a:spAutoFit/>
          </a:bodyPr>
          <a:lstStyle/>
          <a:p>
            <a:r>
              <a:rPr lang="en-US" dirty="0">
                <a:solidFill>
                  <a:schemeClr val="bg2"/>
                </a:solidFill>
                <a:latin typeface="Aptos" panose="020B0004020202020204" pitchFamily="34" charset="0"/>
              </a:rPr>
              <a:t>-&gt; Standard Scaling</a:t>
            </a:r>
          </a:p>
          <a:p>
            <a:r>
              <a:rPr lang="en-US" dirty="0">
                <a:solidFill>
                  <a:schemeClr val="bg2"/>
                </a:solidFill>
                <a:latin typeface="Aptos" panose="020B0004020202020204" pitchFamily="34" charset="0"/>
              </a:rPr>
              <a:t>-&gt; Determine Optimal Number of Clusters</a:t>
            </a:r>
          </a:p>
          <a:p>
            <a:r>
              <a:rPr lang="en-US" dirty="0">
                <a:solidFill>
                  <a:schemeClr val="bg2"/>
                </a:solidFill>
                <a:latin typeface="Aptos" panose="020B0004020202020204" pitchFamily="34" charset="0"/>
              </a:rPr>
              <a:t>-&gt; Applying &amp; Evaluation of Models</a:t>
            </a:r>
          </a:p>
        </p:txBody>
      </p:sp>
    </p:spTree>
    <p:extLst>
      <p:ext uri="{BB962C8B-B14F-4D97-AF65-F5344CB8AC3E}">
        <p14:creationId xmlns:p14="http://schemas.microsoft.com/office/powerpoint/2010/main" val="4276193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9A68D432-2060-F5CE-B504-CDA213138C89}"/>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9D6AE9B1-07BE-A6FD-1869-AAC823C7924B}"/>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Standard Scaling</a:t>
            </a:r>
            <a:endParaRPr i="1" dirty="0">
              <a:solidFill>
                <a:schemeClr val="tx1"/>
              </a:solidFill>
            </a:endParaRPr>
          </a:p>
        </p:txBody>
      </p:sp>
      <p:sp>
        <p:nvSpPr>
          <p:cNvPr id="6" name="TextBox 5">
            <a:extLst>
              <a:ext uri="{FF2B5EF4-FFF2-40B4-BE49-F238E27FC236}">
                <a16:creationId xmlns:a16="http://schemas.microsoft.com/office/drawing/2014/main" id="{BCAF24C5-2A64-7587-54B3-C081118FF463}"/>
              </a:ext>
            </a:extLst>
          </p:cNvPr>
          <p:cNvSpPr txBox="1"/>
          <p:nvPr/>
        </p:nvSpPr>
        <p:spPr>
          <a:xfrm>
            <a:off x="552664" y="1288605"/>
            <a:ext cx="3848352" cy="2677656"/>
          </a:xfrm>
          <a:prstGeom prst="rect">
            <a:avLst/>
          </a:prstGeom>
          <a:noFill/>
        </p:spPr>
        <p:txBody>
          <a:bodyPr wrap="square">
            <a:spAutoFit/>
          </a:bodyPr>
          <a:lstStyle/>
          <a:p>
            <a:r>
              <a:rPr lang="en-US" dirty="0">
                <a:latin typeface="Aptos" panose="020B0004020202020204" pitchFamily="34" charset="0"/>
              </a:rPr>
              <a:t>➤ </a:t>
            </a:r>
            <a:r>
              <a:rPr lang="en-US" dirty="0">
                <a:solidFill>
                  <a:schemeClr val="bg1"/>
                </a:solidFill>
                <a:latin typeface="Aptos" panose="020B0004020202020204" pitchFamily="34" charset="0"/>
              </a:rPr>
              <a:t>Before applying clustering algorithms, it is important to scale the features to ensure that all variables contribute equally to the distance calculations. Features like total sales and standard deviations vary in magnitude, and without scaling, larger numerical ranges could dominate the clustering results.</a:t>
            </a:r>
          </a:p>
          <a:p>
            <a:endParaRPr lang="en-US" dirty="0">
              <a:solidFill>
                <a:schemeClr val="bg1"/>
              </a:solidFill>
              <a:latin typeface="Aptos" panose="020B0004020202020204" pitchFamily="34" charset="0"/>
            </a:endParaRPr>
          </a:p>
          <a:p>
            <a:r>
              <a:rPr lang="en-US" dirty="0">
                <a:solidFill>
                  <a:schemeClr val="bg1"/>
                </a:solidFill>
                <a:latin typeface="Aptos" panose="020B0004020202020204" pitchFamily="34" charset="0"/>
              </a:rPr>
              <a:t>Here, we used  </a:t>
            </a:r>
            <a:r>
              <a:rPr lang="en-US" i="1" dirty="0" err="1">
                <a:solidFill>
                  <a:schemeClr val="tx1"/>
                </a:solidFill>
                <a:latin typeface="Aptos" panose="020B0004020202020204" pitchFamily="34" charset="0"/>
              </a:rPr>
              <a:t>StandardScaler</a:t>
            </a:r>
            <a:r>
              <a:rPr lang="en-US" dirty="0">
                <a:solidFill>
                  <a:schemeClr val="bg1"/>
                </a:solidFill>
                <a:latin typeface="Aptos" panose="020B0004020202020204" pitchFamily="34" charset="0"/>
              </a:rPr>
              <a:t> to standardize the data, transforming each feature to have a mean of 0 and a standard deviation of 1 expect </a:t>
            </a:r>
            <a:r>
              <a:rPr lang="en-US" i="1" dirty="0">
                <a:solidFill>
                  <a:schemeClr val="tx1"/>
                </a:solidFill>
                <a:latin typeface="Aptos" panose="020B0004020202020204" pitchFamily="34" charset="0"/>
              </a:rPr>
              <a:t>ITEM TYPE</a:t>
            </a:r>
            <a:r>
              <a:rPr lang="en-US" dirty="0">
                <a:solidFill>
                  <a:schemeClr val="bg1"/>
                </a:solidFill>
                <a:latin typeface="Aptos" panose="020B0004020202020204" pitchFamily="34" charset="0"/>
              </a:rPr>
              <a:t> column.</a:t>
            </a:r>
          </a:p>
        </p:txBody>
      </p:sp>
      <p:pic>
        <p:nvPicPr>
          <p:cNvPr id="3" name="Picture 2">
            <a:extLst>
              <a:ext uri="{FF2B5EF4-FFF2-40B4-BE49-F238E27FC236}">
                <a16:creationId xmlns:a16="http://schemas.microsoft.com/office/drawing/2014/main" id="{11B707FD-B352-DBD1-A0CB-7714D4B0DEC9}"/>
              </a:ext>
            </a:extLst>
          </p:cNvPr>
          <p:cNvPicPr>
            <a:picLocks noChangeAspect="1"/>
          </p:cNvPicPr>
          <p:nvPr/>
        </p:nvPicPr>
        <p:blipFill>
          <a:blip r:embed="rId3"/>
          <a:stretch>
            <a:fillRect/>
          </a:stretch>
        </p:blipFill>
        <p:spPr>
          <a:xfrm>
            <a:off x="4490224" y="1288605"/>
            <a:ext cx="4400035" cy="3380039"/>
          </a:xfrm>
          <a:prstGeom prst="rect">
            <a:avLst/>
          </a:prstGeom>
        </p:spPr>
      </p:pic>
      <p:cxnSp>
        <p:nvCxnSpPr>
          <p:cNvPr id="7" name="Straight Connector 6">
            <a:extLst>
              <a:ext uri="{FF2B5EF4-FFF2-40B4-BE49-F238E27FC236}">
                <a16:creationId xmlns:a16="http://schemas.microsoft.com/office/drawing/2014/main" id="{5E082EFD-C82D-E98C-E6D4-861E87E0358B}"/>
              </a:ext>
            </a:extLst>
          </p:cNvPr>
          <p:cNvCxnSpPr>
            <a:cxnSpLocks/>
          </p:cNvCxnSpPr>
          <p:nvPr/>
        </p:nvCxnSpPr>
        <p:spPr>
          <a:xfrm>
            <a:off x="4348976" y="1345580"/>
            <a:ext cx="0" cy="272833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31691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286D25DC-3697-803C-F97B-3EE30FA3FB04}"/>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96D7B12C-7611-E56A-A463-7FF0ECB91985}"/>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Determining Optimal K</a:t>
            </a:r>
            <a:endParaRPr i="1" dirty="0">
              <a:solidFill>
                <a:schemeClr val="tx1"/>
              </a:solidFill>
            </a:endParaRPr>
          </a:p>
        </p:txBody>
      </p:sp>
      <p:cxnSp>
        <p:nvCxnSpPr>
          <p:cNvPr id="7" name="Straight Connector 6">
            <a:extLst>
              <a:ext uri="{FF2B5EF4-FFF2-40B4-BE49-F238E27FC236}">
                <a16:creationId xmlns:a16="http://schemas.microsoft.com/office/drawing/2014/main" id="{53FB9903-C94E-5837-0642-92B1F88E1818}"/>
              </a:ext>
            </a:extLst>
          </p:cNvPr>
          <p:cNvCxnSpPr>
            <a:cxnSpLocks/>
          </p:cNvCxnSpPr>
          <p:nvPr/>
        </p:nvCxnSpPr>
        <p:spPr>
          <a:xfrm>
            <a:off x="4953676" y="1449658"/>
            <a:ext cx="0" cy="3152079"/>
          </a:xfrm>
          <a:prstGeom prst="line">
            <a:avLst/>
          </a:prstGeom>
        </p:spPr>
        <p:style>
          <a:lnRef idx="2">
            <a:schemeClr val="dk1"/>
          </a:lnRef>
          <a:fillRef idx="0">
            <a:schemeClr val="dk1"/>
          </a:fillRef>
          <a:effectRef idx="1">
            <a:schemeClr val="dk1"/>
          </a:effectRef>
          <a:fontRef idx="minor">
            <a:schemeClr val="tx1"/>
          </a:fontRef>
        </p:style>
      </p:cxnSp>
      <p:pic>
        <p:nvPicPr>
          <p:cNvPr id="5" name="Picture 4">
            <a:extLst>
              <a:ext uri="{FF2B5EF4-FFF2-40B4-BE49-F238E27FC236}">
                <a16:creationId xmlns:a16="http://schemas.microsoft.com/office/drawing/2014/main" id="{651586CF-1EBF-5BB2-FF7C-192A5A71CD3C}"/>
              </a:ext>
            </a:extLst>
          </p:cNvPr>
          <p:cNvPicPr>
            <a:picLocks noChangeAspect="1"/>
          </p:cNvPicPr>
          <p:nvPr/>
        </p:nvPicPr>
        <p:blipFill>
          <a:blip r:embed="rId3"/>
          <a:stretch>
            <a:fillRect/>
          </a:stretch>
        </p:blipFill>
        <p:spPr>
          <a:xfrm>
            <a:off x="613805" y="1265147"/>
            <a:ext cx="4293377" cy="3752902"/>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BA6A02FA-0B83-F18C-6ECB-4303ACD310A6}"/>
              </a:ext>
            </a:extLst>
          </p:cNvPr>
          <p:cNvSpPr txBox="1"/>
          <p:nvPr/>
        </p:nvSpPr>
        <p:spPr>
          <a:xfrm>
            <a:off x="5159298" y="1587326"/>
            <a:ext cx="3531210" cy="3108543"/>
          </a:xfrm>
          <a:prstGeom prst="rect">
            <a:avLst/>
          </a:prstGeom>
          <a:noFill/>
        </p:spPr>
        <p:txBody>
          <a:bodyPr wrap="square" rtlCol="0">
            <a:spAutoFit/>
          </a:bodyPr>
          <a:lstStyle/>
          <a:p>
            <a:r>
              <a:rPr lang="en-US" b="1" dirty="0">
                <a:solidFill>
                  <a:schemeClr val="tx1"/>
                </a:solidFill>
                <a:latin typeface="Aptos" panose="020B0004020202020204" pitchFamily="34" charset="0"/>
              </a:rPr>
              <a:t>Optimal Clusters Selection – Elbow Method</a:t>
            </a:r>
          </a:p>
          <a:p>
            <a:endParaRPr lang="en-US" b="1" dirty="0">
              <a:solidFill>
                <a:schemeClr val="tx1"/>
              </a:solidFill>
              <a:latin typeface="Aptos" panose="020B0004020202020204" pitchFamily="34" charset="0"/>
            </a:endParaRPr>
          </a:p>
          <a:p>
            <a:r>
              <a:rPr lang="en-US" b="1" dirty="0">
                <a:latin typeface="Aptos" panose="020B0004020202020204" pitchFamily="34" charset="0"/>
              </a:rPr>
              <a:t>- </a:t>
            </a:r>
            <a:r>
              <a:rPr lang="en-US" dirty="0">
                <a:solidFill>
                  <a:schemeClr val="bg1"/>
                </a:solidFill>
                <a:latin typeface="Aptos" panose="020B0004020202020204" pitchFamily="34" charset="0"/>
              </a:rPr>
              <a:t>The Elbow Method was used to find the ideal number of clusters for K-Means.</a:t>
            </a:r>
          </a:p>
          <a:p>
            <a:endParaRPr lang="en-US"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A sharp drop in inertia is observed up to k=3, indicating strong clustering gains.</a:t>
            </a:r>
          </a:p>
          <a:p>
            <a:endParaRPr lang="en-US"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The elbow point appears around k=3 or 4, beyond which gains diminish.</a:t>
            </a:r>
          </a:p>
          <a:p>
            <a:endParaRPr lang="en-US"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To balance accuracy and simplicity, k=3 was selected for clustering.</a:t>
            </a:r>
            <a:endParaRPr lang="en-IN" dirty="0">
              <a:solidFill>
                <a:schemeClr val="bg1"/>
              </a:solidFill>
              <a:latin typeface="Aptos" panose="020B0004020202020204" pitchFamily="34" charset="0"/>
            </a:endParaRPr>
          </a:p>
        </p:txBody>
      </p:sp>
    </p:spTree>
    <p:extLst>
      <p:ext uri="{BB962C8B-B14F-4D97-AF65-F5344CB8AC3E}">
        <p14:creationId xmlns:p14="http://schemas.microsoft.com/office/powerpoint/2010/main" val="1987335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93AD1FA7-6A1A-14AB-BDC1-7844B7F8C00C}"/>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FBE0B73D-5931-D0D7-C4A0-E147BA36A769}"/>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Model Building &amp; Evaluation</a:t>
            </a:r>
            <a:endParaRPr i="1" dirty="0">
              <a:solidFill>
                <a:schemeClr val="tx1"/>
              </a:solidFill>
            </a:endParaRPr>
          </a:p>
        </p:txBody>
      </p:sp>
      <p:cxnSp>
        <p:nvCxnSpPr>
          <p:cNvPr id="7" name="Straight Connector 6">
            <a:extLst>
              <a:ext uri="{FF2B5EF4-FFF2-40B4-BE49-F238E27FC236}">
                <a16:creationId xmlns:a16="http://schemas.microsoft.com/office/drawing/2014/main" id="{D6751B06-0F7A-DB4B-07D2-FB0EE6851597}"/>
              </a:ext>
            </a:extLst>
          </p:cNvPr>
          <p:cNvCxnSpPr>
            <a:cxnSpLocks/>
          </p:cNvCxnSpPr>
          <p:nvPr/>
        </p:nvCxnSpPr>
        <p:spPr>
          <a:xfrm>
            <a:off x="4567100" y="1293541"/>
            <a:ext cx="0" cy="3650166"/>
          </a:xfrm>
          <a:prstGeom prst="line">
            <a:avLst/>
          </a:prstGeom>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912F9E01-C99F-462E-6CEA-541E921F779A}"/>
              </a:ext>
            </a:extLst>
          </p:cNvPr>
          <p:cNvSpPr txBox="1"/>
          <p:nvPr/>
        </p:nvSpPr>
        <p:spPr>
          <a:xfrm>
            <a:off x="710200" y="1293541"/>
            <a:ext cx="3856900" cy="3754874"/>
          </a:xfrm>
          <a:prstGeom prst="rect">
            <a:avLst/>
          </a:prstGeom>
          <a:noFill/>
        </p:spPr>
        <p:txBody>
          <a:bodyPr wrap="square" rtlCol="0">
            <a:spAutoFit/>
          </a:bodyPr>
          <a:lstStyle/>
          <a:p>
            <a:r>
              <a:rPr lang="en-US" b="1" dirty="0">
                <a:solidFill>
                  <a:schemeClr val="tx1"/>
                </a:solidFill>
                <a:latin typeface="Aptos" panose="020B0004020202020204" pitchFamily="34" charset="0"/>
              </a:rPr>
              <a:t>Model Selection Strategy</a:t>
            </a:r>
          </a:p>
          <a:p>
            <a:endParaRPr lang="en-US" b="1" dirty="0">
              <a:solidFill>
                <a:schemeClr val="tx1"/>
              </a:solidFill>
              <a:latin typeface="Aptos" panose="020B0004020202020204" pitchFamily="34" charset="0"/>
            </a:endParaRPr>
          </a:p>
          <a:p>
            <a:r>
              <a:rPr lang="en-US" dirty="0">
                <a:latin typeface="Aptos" panose="020B0004020202020204" pitchFamily="34" charset="0"/>
              </a:rPr>
              <a:t>Applied K-Means, Agglomerative Clustering, and DBSCAN to explore different clustering approaches.</a:t>
            </a:r>
          </a:p>
          <a:p>
            <a:endParaRPr lang="en-US" dirty="0">
              <a:latin typeface="Aptos" panose="020B0004020202020204" pitchFamily="34" charset="0"/>
            </a:endParaRPr>
          </a:p>
          <a:p>
            <a:r>
              <a:rPr lang="en-US" dirty="0">
                <a:latin typeface="Aptos" panose="020B0004020202020204" pitchFamily="34" charset="0"/>
              </a:rPr>
              <a:t>Each model offers a unique perspective:</a:t>
            </a:r>
          </a:p>
          <a:p>
            <a:r>
              <a:rPr lang="en-US" dirty="0">
                <a:latin typeface="Aptos" panose="020B0004020202020204" pitchFamily="34" charset="0"/>
              </a:rPr>
              <a:t>➤ K-Means – centroid-based</a:t>
            </a:r>
          </a:p>
          <a:p>
            <a:r>
              <a:rPr lang="en-US" dirty="0">
                <a:latin typeface="Aptos" panose="020B0004020202020204" pitchFamily="34" charset="0"/>
              </a:rPr>
              <a:t>➤ Agglomerative – hierarchical</a:t>
            </a:r>
          </a:p>
          <a:p>
            <a:r>
              <a:rPr lang="en-US" dirty="0">
                <a:latin typeface="Aptos" panose="020B0004020202020204" pitchFamily="34" charset="0"/>
              </a:rPr>
              <a:t>➤ DBSCAN – density-based</a:t>
            </a:r>
          </a:p>
          <a:p>
            <a:endParaRPr lang="en-US" dirty="0">
              <a:latin typeface="Aptos" panose="020B0004020202020204" pitchFamily="34" charset="0"/>
            </a:endParaRPr>
          </a:p>
          <a:p>
            <a:r>
              <a:rPr lang="en-US" dirty="0">
                <a:latin typeface="Aptos" panose="020B0004020202020204" pitchFamily="34" charset="0"/>
              </a:rPr>
              <a:t>Using multiple models improves comparison and clustering robustness.</a:t>
            </a:r>
          </a:p>
          <a:p>
            <a:endParaRPr lang="en-US" dirty="0">
              <a:latin typeface="Aptos" panose="020B0004020202020204" pitchFamily="34" charset="0"/>
            </a:endParaRPr>
          </a:p>
          <a:p>
            <a:r>
              <a:rPr lang="en-US" dirty="0">
                <a:latin typeface="Aptos" panose="020B0004020202020204" pitchFamily="34" charset="0"/>
              </a:rPr>
              <a:t>Goal: Identify the best method to group products by sales behavior for actionable insights.</a:t>
            </a:r>
            <a:endParaRPr lang="en-IN" dirty="0">
              <a:solidFill>
                <a:schemeClr val="bg1"/>
              </a:solidFill>
              <a:latin typeface="Aptos" panose="020B0004020202020204" pitchFamily="34" charset="0"/>
            </a:endParaRPr>
          </a:p>
        </p:txBody>
      </p:sp>
      <p:sp>
        <p:nvSpPr>
          <p:cNvPr id="3" name="TextBox 2">
            <a:extLst>
              <a:ext uri="{FF2B5EF4-FFF2-40B4-BE49-F238E27FC236}">
                <a16:creationId xmlns:a16="http://schemas.microsoft.com/office/drawing/2014/main" id="{9B533779-2626-47EB-47E7-013714AA88AF}"/>
              </a:ext>
            </a:extLst>
          </p:cNvPr>
          <p:cNvSpPr txBox="1"/>
          <p:nvPr/>
        </p:nvSpPr>
        <p:spPr>
          <a:xfrm>
            <a:off x="4706053" y="1293541"/>
            <a:ext cx="4371039" cy="3754874"/>
          </a:xfrm>
          <a:prstGeom prst="rect">
            <a:avLst/>
          </a:prstGeom>
          <a:noFill/>
        </p:spPr>
        <p:txBody>
          <a:bodyPr wrap="square" rtlCol="0">
            <a:spAutoFit/>
          </a:bodyPr>
          <a:lstStyle/>
          <a:p>
            <a:r>
              <a:rPr lang="en-US" b="1" dirty="0">
                <a:solidFill>
                  <a:schemeClr val="tx1"/>
                </a:solidFill>
                <a:latin typeface="Aptos" panose="020B0004020202020204" pitchFamily="34" charset="0"/>
              </a:rPr>
              <a:t>Evaluation</a:t>
            </a:r>
          </a:p>
          <a:p>
            <a:endParaRPr lang="en-US" b="1" dirty="0">
              <a:solidFill>
                <a:schemeClr val="tx1"/>
              </a:solidFill>
              <a:latin typeface="Aptos" panose="020B0004020202020204" pitchFamily="34" charset="0"/>
            </a:endParaRPr>
          </a:p>
          <a:p>
            <a:endParaRPr lang="en-US" b="1" dirty="0">
              <a:solidFill>
                <a:schemeClr val="tx1"/>
              </a:solidFill>
              <a:latin typeface="Aptos" panose="020B0004020202020204" pitchFamily="34" charset="0"/>
            </a:endParaRPr>
          </a:p>
          <a:p>
            <a:endParaRPr lang="en-US" b="1" dirty="0">
              <a:solidFill>
                <a:schemeClr val="tx1"/>
              </a:solidFill>
              <a:latin typeface="Aptos" panose="020B0004020202020204" pitchFamily="34" charset="0"/>
            </a:endParaRPr>
          </a:p>
          <a:p>
            <a:endParaRPr lang="en-US" b="1" dirty="0">
              <a:solidFill>
                <a:schemeClr val="tx1"/>
              </a:solidFill>
              <a:latin typeface="Aptos" panose="020B0004020202020204" pitchFamily="34" charset="0"/>
            </a:endParaRPr>
          </a:p>
          <a:p>
            <a:endParaRPr lang="en-US" b="1" dirty="0">
              <a:solidFill>
                <a:schemeClr val="tx1"/>
              </a:solidFill>
              <a:latin typeface="Aptos" panose="020B0004020202020204" pitchFamily="34" charset="0"/>
            </a:endParaRPr>
          </a:p>
          <a:p>
            <a:endParaRPr lang="en-US" b="1" dirty="0">
              <a:solidFill>
                <a:schemeClr val="tx1"/>
              </a:solidFill>
              <a:latin typeface="Aptos" panose="020B0004020202020204" pitchFamily="34" charset="0"/>
            </a:endParaRPr>
          </a:p>
          <a:p>
            <a:r>
              <a:rPr lang="en-US" b="1" dirty="0">
                <a:solidFill>
                  <a:schemeClr val="bg1"/>
                </a:solidFill>
                <a:latin typeface="Aptos" panose="020B0004020202020204" pitchFamily="34" charset="0"/>
              </a:rPr>
              <a:t>-</a:t>
            </a:r>
            <a:r>
              <a:rPr lang="en-US" b="1" i="1" dirty="0">
                <a:solidFill>
                  <a:schemeClr val="tx1"/>
                </a:solidFill>
                <a:latin typeface="Aptos" panose="020B0004020202020204" pitchFamily="34" charset="0"/>
              </a:rPr>
              <a:t> </a:t>
            </a:r>
            <a:r>
              <a:rPr lang="en-US" i="1" dirty="0">
                <a:solidFill>
                  <a:schemeClr val="tx1"/>
                </a:solidFill>
                <a:latin typeface="Aptos" panose="020B0004020202020204" pitchFamily="34" charset="0"/>
              </a:rPr>
              <a:t>K-Means</a:t>
            </a:r>
            <a:r>
              <a:rPr lang="en-US" dirty="0">
                <a:solidFill>
                  <a:schemeClr val="bg1"/>
                </a:solidFill>
                <a:latin typeface="Aptos" panose="020B0004020202020204" pitchFamily="34" charset="0"/>
              </a:rPr>
              <a:t> and </a:t>
            </a:r>
            <a:r>
              <a:rPr lang="en-US" i="1" dirty="0">
                <a:solidFill>
                  <a:schemeClr val="tx1"/>
                </a:solidFill>
                <a:latin typeface="Aptos" panose="020B0004020202020204" pitchFamily="34" charset="0"/>
              </a:rPr>
              <a:t>Agglomerative Clustering</a:t>
            </a:r>
            <a:r>
              <a:rPr lang="en-US" dirty="0">
                <a:solidFill>
                  <a:schemeClr val="bg1"/>
                </a:solidFill>
                <a:latin typeface="Aptos" panose="020B0004020202020204" pitchFamily="34" charset="0"/>
              </a:rPr>
              <a:t> produced identical performance across all three metrics:</a:t>
            </a: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a:t>
            </a:r>
            <a:r>
              <a:rPr lang="en-US" b="1" i="1" dirty="0">
                <a:solidFill>
                  <a:schemeClr val="tx1"/>
                </a:solidFill>
                <a:latin typeface="Aptos" panose="020B0004020202020204" pitchFamily="34" charset="0"/>
              </a:rPr>
              <a:t>Silhouette Score:</a:t>
            </a:r>
            <a:r>
              <a:rPr lang="en-US" dirty="0">
                <a:solidFill>
                  <a:schemeClr val="bg1"/>
                </a:solidFill>
                <a:latin typeface="Aptos" panose="020B0004020202020204" pitchFamily="34" charset="0"/>
              </a:rPr>
              <a:t> 0.3149    </a:t>
            </a: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a:t>
            </a:r>
            <a:r>
              <a:rPr lang="en-US" b="1" i="1" dirty="0" err="1">
                <a:solidFill>
                  <a:schemeClr val="tx1"/>
                </a:solidFill>
                <a:latin typeface="Aptos" panose="020B0004020202020204" pitchFamily="34" charset="0"/>
              </a:rPr>
              <a:t>Calinski-Harabasz</a:t>
            </a:r>
            <a:r>
              <a:rPr lang="en-US" b="1" i="1" dirty="0">
                <a:solidFill>
                  <a:schemeClr val="tx1"/>
                </a:solidFill>
                <a:latin typeface="Aptos" panose="020B0004020202020204" pitchFamily="34" charset="0"/>
              </a:rPr>
              <a:t> Index: </a:t>
            </a:r>
            <a:r>
              <a:rPr lang="en-US" dirty="0">
                <a:solidFill>
                  <a:schemeClr val="bg1"/>
                </a:solidFill>
                <a:latin typeface="Aptos" panose="020B0004020202020204" pitchFamily="34" charset="0"/>
              </a:rPr>
              <a:t>8.25    - </a:t>
            </a:r>
          </a:p>
          <a:p>
            <a:r>
              <a:rPr lang="en-US" b="1" dirty="0">
                <a:solidFill>
                  <a:schemeClr val="bg1"/>
                </a:solidFill>
                <a:latin typeface="Aptos" panose="020B0004020202020204" pitchFamily="34" charset="0"/>
              </a:rPr>
              <a:t>-</a:t>
            </a:r>
            <a:r>
              <a:rPr lang="en-US" b="1" i="1" dirty="0">
                <a:solidFill>
                  <a:schemeClr val="tx1"/>
                </a:solidFill>
                <a:latin typeface="Aptos" panose="020B0004020202020204" pitchFamily="34" charset="0"/>
              </a:rPr>
              <a:t> Davies-Bouldin Index: </a:t>
            </a:r>
            <a:r>
              <a:rPr lang="en-US" dirty="0">
                <a:solidFill>
                  <a:schemeClr val="bg1"/>
                </a:solidFill>
                <a:latin typeface="Aptos" panose="020B0004020202020204" pitchFamily="34" charset="0"/>
              </a:rPr>
              <a:t>0.6531</a:t>
            </a:r>
          </a:p>
          <a:p>
            <a:r>
              <a:rPr lang="en-US" b="1" i="1" dirty="0">
                <a:solidFill>
                  <a:schemeClr val="bg1"/>
                </a:solidFill>
                <a:latin typeface="Aptos" panose="020B0004020202020204" pitchFamily="34" charset="0"/>
              </a:rPr>
              <a:t>-</a:t>
            </a:r>
            <a:r>
              <a:rPr lang="en-US" i="1" dirty="0">
                <a:solidFill>
                  <a:schemeClr val="tx1"/>
                </a:solidFill>
                <a:latin typeface="Aptos" panose="020B0004020202020204" pitchFamily="34" charset="0"/>
              </a:rPr>
              <a:t> DBSCAN</a:t>
            </a:r>
            <a:r>
              <a:rPr lang="en-US" dirty="0">
                <a:solidFill>
                  <a:schemeClr val="bg1"/>
                </a:solidFill>
                <a:latin typeface="Aptos" panose="020B0004020202020204" pitchFamily="34" charset="0"/>
              </a:rPr>
              <a:t> failed to form meaningful clusters</a:t>
            </a:r>
          </a:p>
          <a:p>
            <a:r>
              <a:rPr lang="en-US" dirty="0">
                <a:solidFill>
                  <a:schemeClr val="bg1"/>
                </a:solidFill>
                <a:latin typeface="Aptos" panose="020B0004020202020204" pitchFamily="34" charset="0"/>
              </a:rPr>
              <a:t> </a:t>
            </a:r>
          </a:p>
          <a:p>
            <a:r>
              <a:rPr lang="en-US" i="1" dirty="0">
                <a:solidFill>
                  <a:schemeClr val="tx1"/>
                </a:solidFill>
                <a:latin typeface="Aptos" panose="020B0004020202020204" pitchFamily="34" charset="0"/>
              </a:rPr>
              <a:t>Agglomerative Clustering</a:t>
            </a:r>
            <a:r>
              <a:rPr lang="en-US" dirty="0">
                <a:solidFill>
                  <a:schemeClr val="bg1"/>
                </a:solidFill>
                <a:latin typeface="Aptos" panose="020B0004020202020204" pitchFamily="34" charset="0"/>
              </a:rPr>
              <a:t> was selected due to its ability to capture hierarchical relationships and better interpretability for this dataset.</a:t>
            </a:r>
          </a:p>
        </p:txBody>
      </p:sp>
      <p:pic>
        <p:nvPicPr>
          <p:cNvPr id="6" name="Picture 5">
            <a:extLst>
              <a:ext uri="{FF2B5EF4-FFF2-40B4-BE49-F238E27FC236}">
                <a16:creationId xmlns:a16="http://schemas.microsoft.com/office/drawing/2014/main" id="{13E6B4E0-CB0A-43C6-5FDB-643BC4B65D15}"/>
              </a:ext>
            </a:extLst>
          </p:cNvPr>
          <p:cNvPicPr>
            <a:picLocks noChangeAspect="1"/>
          </p:cNvPicPr>
          <p:nvPr/>
        </p:nvPicPr>
        <p:blipFill>
          <a:blip r:embed="rId3"/>
          <a:stretch>
            <a:fillRect/>
          </a:stretch>
        </p:blipFill>
        <p:spPr>
          <a:xfrm>
            <a:off x="4706052" y="1680816"/>
            <a:ext cx="4162881" cy="10400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7255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77EF9632-503E-ADFC-A75B-7D5B4D864A0C}"/>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E6D543C7-3DE4-E215-BDC7-7DD650FEF41E}"/>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Evaluation Plotting</a:t>
            </a:r>
            <a:endParaRPr i="1" dirty="0">
              <a:solidFill>
                <a:schemeClr val="tx1"/>
              </a:solidFill>
            </a:endParaRPr>
          </a:p>
        </p:txBody>
      </p:sp>
      <p:cxnSp>
        <p:nvCxnSpPr>
          <p:cNvPr id="7" name="Straight Connector 6">
            <a:extLst>
              <a:ext uri="{FF2B5EF4-FFF2-40B4-BE49-F238E27FC236}">
                <a16:creationId xmlns:a16="http://schemas.microsoft.com/office/drawing/2014/main" id="{D9C474E7-83D3-59A6-23E7-92FC87707E0C}"/>
              </a:ext>
            </a:extLst>
          </p:cNvPr>
          <p:cNvCxnSpPr>
            <a:cxnSpLocks/>
          </p:cNvCxnSpPr>
          <p:nvPr/>
        </p:nvCxnSpPr>
        <p:spPr>
          <a:xfrm>
            <a:off x="5481501" y="1248936"/>
            <a:ext cx="0" cy="3650166"/>
          </a:xfrm>
          <a:prstGeom prst="line">
            <a:avLst/>
          </a:prstGeom>
        </p:spPr>
        <p:style>
          <a:lnRef idx="2">
            <a:schemeClr val="dk1"/>
          </a:lnRef>
          <a:fillRef idx="0">
            <a:schemeClr val="dk1"/>
          </a:fillRef>
          <a:effectRef idx="1">
            <a:schemeClr val="dk1"/>
          </a:effectRef>
          <a:fontRef idx="minor">
            <a:schemeClr val="tx1"/>
          </a:fontRef>
        </p:style>
      </p:cxnSp>
      <p:pic>
        <p:nvPicPr>
          <p:cNvPr id="4" name="Picture 3">
            <a:extLst>
              <a:ext uri="{FF2B5EF4-FFF2-40B4-BE49-F238E27FC236}">
                <a16:creationId xmlns:a16="http://schemas.microsoft.com/office/drawing/2014/main" id="{BED2C5EA-F744-4146-91A6-74A169AD17F1}"/>
              </a:ext>
            </a:extLst>
          </p:cNvPr>
          <p:cNvPicPr>
            <a:picLocks noChangeAspect="1"/>
          </p:cNvPicPr>
          <p:nvPr/>
        </p:nvPicPr>
        <p:blipFill>
          <a:blip r:embed="rId3"/>
          <a:stretch>
            <a:fillRect/>
          </a:stretch>
        </p:blipFill>
        <p:spPr>
          <a:xfrm>
            <a:off x="715100" y="1073200"/>
            <a:ext cx="4674656" cy="3974585"/>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4C432B3C-8BED-0419-DB42-A6CDD357DE81}"/>
              </a:ext>
            </a:extLst>
          </p:cNvPr>
          <p:cNvSpPr txBox="1"/>
          <p:nvPr/>
        </p:nvSpPr>
        <p:spPr>
          <a:xfrm>
            <a:off x="5573247" y="1499957"/>
            <a:ext cx="3531210" cy="3539430"/>
          </a:xfrm>
          <a:prstGeom prst="rect">
            <a:avLst/>
          </a:prstGeom>
          <a:noFill/>
        </p:spPr>
        <p:txBody>
          <a:bodyPr wrap="square" rtlCol="0">
            <a:spAutoFit/>
          </a:bodyPr>
          <a:lstStyle/>
          <a:p>
            <a:r>
              <a:rPr lang="en-US" b="1" dirty="0">
                <a:solidFill>
                  <a:schemeClr val="tx1"/>
                </a:solidFill>
                <a:latin typeface="Aptos" panose="020B0004020202020204" pitchFamily="34" charset="0"/>
              </a:rPr>
              <a:t>Model Evaluation Summary</a:t>
            </a:r>
          </a:p>
          <a:p>
            <a:endParaRPr lang="en-US" b="1" dirty="0">
              <a:solidFill>
                <a:schemeClr val="tx1"/>
              </a:solidFill>
              <a:latin typeface="Aptos" panose="020B0004020202020204" pitchFamily="34" charset="0"/>
            </a:endParaRPr>
          </a:p>
          <a:p>
            <a:r>
              <a:rPr lang="en-US" b="1" dirty="0">
                <a:latin typeface="Aptos" panose="020B0004020202020204" pitchFamily="34" charset="0"/>
              </a:rPr>
              <a:t>-</a:t>
            </a:r>
            <a:r>
              <a:rPr lang="en-US" dirty="0">
                <a:latin typeface="Aptos" panose="020B0004020202020204" pitchFamily="34" charset="0"/>
              </a:rPr>
              <a:t> </a:t>
            </a:r>
            <a:r>
              <a:rPr lang="en-US" i="1" dirty="0" err="1">
                <a:solidFill>
                  <a:schemeClr val="tx1"/>
                </a:solidFill>
                <a:latin typeface="Aptos" panose="020B0004020202020204" pitchFamily="34" charset="0"/>
              </a:rPr>
              <a:t>KMeans</a:t>
            </a:r>
            <a:r>
              <a:rPr lang="en-US" dirty="0">
                <a:latin typeface="Aptos" panose="020B0004020202020204" pitchFamily="34" charset="0"/>
              </a:rPr>
              <a:t> and </a:t>
            </a:r>
            <a:r>
              <a:rPr lang="en-US" dirty="0">
                <a:solidFill>
                  <a:schemeClr val="tx1"/>
                </a:solidFill>
                <a:latin typeface="Aptos" panose="020B0004020202020204" pitchFamily="34" charset="0"/>
              </a:rPr>
              <a:t>Agglomerative Clustering</a:t>
            </a:r>
            <a:r>
              <a:rPr lang="en-US" dirty="0">
                <a:latin typeface="Aptos" panose="020B0004020202020204" pitchFamily="34" charset="0"/>
              </a:rPr>
              <a:t> showed identical scores across all metrics, indicating equal performance.</a:t>
            </a:r>
          </a:p>
          <a:p>
            <a:endParaRPr lang="en-US" dirty="0">
              <a:latin typeface="Aptos" panose="020B0004020202020204" pitchFamily="34" charset="0"/>
            </a:endParaRPr>
          </a:p>
          <a:p>
            <a:r>
              <a:rPr lang="en-US" b="1" dirty="0">
                <a:latin typeface="Aptos" panose="020B0004020202020204" pitchFamily="34" charset="0"/>
              </a:rPr>
              <a:t>-</a:t>
            </a:r>
            <a:r>
              <a:rPr lang="en-US" dirty="0">
                <a:latin typeface="Aptos" panose="020B0004020202020204" pitchFamily="34" charset="0"/>
              </a:rPr>
              <a:t> </a:t>
            </a:r>
            <a:r>
              <a:rPr lang="en-US" dirty="0">
                <a:solidFill>
                  <a:schemeClr val="tx1"/>
                </a:solidFill>
                <a:latin typeface="Aptos" panose="020B0004020202020204" pitchFamily="34" charset="0"/>
              </a:rPr>
              <a:t>Evaluation</a:t>
            </a:r>
            <a:r>
              <a:rPr lang="en-US" dirty="0">
                <a:latin typeface="Aptos" panose="020B0004020202020204" pitchFamily="34" charset="0"/>
              </a:rPr>
              <a:t> metrics suggest moderately well-separated and compact clusters for both models.</a:t>
            </a:r>
          </a:p>
          <a:p>
            <a:endParaRPr lang="en-US" dirty="0">
              <a:latin typeface="Aptos" panose="020B0004020202020204" pitchFamily="34" charset="0"/>
            </a:endParaRPr>
          </a:p>
          <a:p>
            <a:r>
              <a:rPr lang="en-US" b="1" dirty="0">
                <a:latin typeface="Aptos" panose="020B0004020202020204" pitchFamily="34" charset="0"/>
              </a:rPr>
              <a:t>-</a:t>
            </a:r>
            <a:r>
              <a:rPr lang="en-US" dirty="0">
                <a:latin typeface="Aptos" panose="020B0004020202020204" pitchFamily="34" charset="0"/>
              </a:rPr>
              <a:t> </a:t>
            </a:r>
            <a:r>
              <a:rPr lang="en-US" dirty="0">
                <a:solidFill>
                  <a:schemeClr val="tx1"/>
                </a:solidFill>
                <a:latin typeface="Aptos" panose="020B0004020202020204" pitchFamily="34" charset="0"/>
              </a:rPr>
              <a:t>DBSCAN</a:t>
            </a:r>
            <a:r>
              <a:rPr lang="en-US" dirty="0">
                <a:latin typeface="Aptos" panose="020B0004020202020204" pitchFamily="34" charset="0"/>
              </a:rPr>
              <a:t> failed to form valid clusters, assigning all data to a single group.</a:t>
            </a:r>
          </a:p>
          <a:p>
            <a:endParaRPr lang="en-US" dirty="0">
              <a:latin typeface="Aptos" panose="020B0004020202020204" pitchFamily="34" charset="0"/>
            </a:endParaRPr>
          </a:p>
          <a:p>
            <a:r>
              <a:rPr lang="en-US" b="1" dirty="0">
                <a:latin typeface="Aptos" panose="020B0004020202020204" pitchFamily="34" charset="0"/>
              </a:rPr>
              <a:t>-</a:t>
            </a:r>
            <a:r>
              <a:rPr lang="en-US" dirty="0">
                <a:latin typeface="Aptos" panose="020B0004020202020204" pitchFamily="34" charset="0"/>
              </a:rPr>
              <a:t> </a:t>
            </a:r>
            <a:r>
              <a:rPr lang="en-US" dirty="0">
                <a:solidFill>
                  <a:schemeClr val="tx1"/>
                </a:solidFill>
                <a:latin typeface="Aptos" panose="020B0004020202020204" pitchFamily="34" charset="0"/>
              </a:rPr>
              <a:t>Agglomerative Clustering </a:t>
            </a:r>
            <a:r>
              <a:rPr lang="en-US" dirty="0">
                <a:latin typeface="Aptos" panose="020B0004020202020204" pitchFamily="34" charset="0"/>
              </a:rPr>
              <a:t>was chosen for its hierarchical structure and better interpretability.</a:t>
            </a:r>
            <a:endParaRPr lang="en-IN" dirty="0">
              <a:solidFill>
                <a:schemeClr val="bg1"/>
              </a:solidFill>
              <a:latin typeface="Aptos" panose="020B0004020202020204" pitchFamily="34" charset="0"/>
            </a:endParaRPr>
          </a:p>
        </p:txBody>
      </p:sp>
    </p:spTree>
    <p:extLst>
      <p:ext uri="{BB962C8B-B14F-4D97-AF65-F5344CB8AC3E}">
        <p14:creationId xmlns:p14="http://schemas.microsoft.com/office/powerpoint/2010/main" val="2902621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17A00990-5E33-8FAF-0D7D-F73F0F0F16A5}"/>
            </a:ext>
          </a:extLst>
        </p:cNvPr>
        <p:cNvGrpSpPr/>
        <p:nvPr/>
      </p:nvGrpSpPr>
      <p:grpSpPr>
        <a:xfrm>
          <a:off x="0" y="0"/>
          <a:ext cx="0" cy="0"/>
          <a:chOff x="0" y="0"/>
          <a:chExt cx="0" cy="0"/>
        </a:xfrm>
      </p:grpSpPr>
      <p:sp>
        <p:nvSpPr>
          <p:cNvPr id="244" name="Google Shape;244;p38">
            <a:extLst>
              <a:ext uri="{FF2B5EF4-FFF2-40B4-BE49-F238E27FC236}">
                <a16:creationId xmlns:a16="http://schemas.microsoft.com/office/drawing/2014/main" id="{4F9E0625-E082-BC58-79A8-C770CA73D7DD}"/>
              </a:ext>
            </a:extLst>
          </p:cNvPr>
          <p:cNvSpPr txBox="1">
            <a:spLocks noGrp="1"/>
          </p:cNvSpPr>
          <p:nvPr>
            <p:ph type="title"/>
          </p:nvPr>
        </p:nvSpPr>
        <p:spPr>
          <a:xfrm>
            <a:off x="3397990" y="1536713"/>
            <a:ext cx="49374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Cluster Projection</a:t>
            </a:r>
            <a:endParaRPr dirty="0"/>
          </a:p>
        </p:txBody>
      </p:sp>
      <p:sp>
        <p:nvSpPr>
          <p:cNvPr id="246" name="Google Shape;246;p38">
            <a:extLst>
              <a:ext uri="{FF2B5EF4-FFF2-40B4-BE49-F238E27FC236}">
                <a16:creationId xmlns:a16="http://schemas.microsoft.com/office/drawing/2014/main" id="{BDCD18E3-9A95-6289-A555-6A1DB459E3D2}"/>
              </a:ext>
            </a:extLst>
          </p:cNvPr>
          <p:cNvSpPr txBox="1">
            <a:spLocks noGrp="1"/>
          </p:cNvSpPr>
          <p:nvPr>
            <p:ph type="title" idx="2"/>
          </p:nvPr>
        </p:nvSpPr>
        <p:spPr>
          <a:xfrm>
            <a:off x="3397990" y="941033"/>
            <a:ext cx="1192500" cy="46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cxnSp>
        <p:nvCxnSpPr>
          <p:cNvPr id="247" name="Google Shape;247;p38">
            <a:extLst>
              <a:ext uri="{FF2B5EF4-FFF2-40B4-BE49-F238E27FC236}">
                <a16:creationId xmlns:a16="http://schemas.microsoft.com/office/drawing/2014/main" id="{F7B1D3B7-F491-785C-3164-6E8FA503688E}"/>
              </a:ext>
            </a:extLst>
          </p:cNvPr>
          <p:cNvCxnSpPr>
            <a:cxnSpLocks/>
          </p:cNvCxnSpPr>
          <p:nvPr/>
        </p:nvCxnSpPr>
        <p:spPr>
          <a:xfrm>
            <a:off x="3332175" y="1766220"/>
            <a:ext cx="0" cy="2897065"/>
          </a:xfrm>
          <a:prstGeom prst="straightConnector1">
            <a:avLst/>
          </a:prstGeom>
          <a:noFill/>
          <a:ln w="28575" cap="flat" cmpd="sng">
            <a:solidFill>
              <a:schemeClr val="dk2"/>
            </a:solidFill>
            <a:prstDash val="solid"/>
            <a:round/>
            <a:headEnd type="none" w="med" len="med"/>
            <a:tailEnd type="none" w="med" len="med"/>
          </a:ln>
        </p:spPr>
      </p:cxnSp>
      <p:pic>
        <p:nvPicPr>
          <p:cNvPr id="249" name="Google Shape;249;p38">
            <a:extLst>
              <a:ext uri="{FF2B5EF4-FFF2-40B4-BE49-F238E27FC236}">
                <a16:creationId xmlns:a16="http://schemas.microsoft.com/office/drawing/2014/main" id="{EDC44A51-7B26-E66D-1DE6-4470BE1749A4}"/>
              </a:ext>
            </a:extLst>
          </p:cNvPr>
          <p:cNvPicPr preferRelativeResize="0">
            <a:picLocks noGrp="1"/>
          </p:cNvPicPr>
          <p:nvPr>
            <p:ph type="pic" idx="4"/>
          </p:nvPr>
        </p:nvPicPr>
        <p:blipFill rotWithShape="1">
          <a:blip r:embed="rId3">
            <a:alphaModFix/>
          </a:blip>
          <a:srcRect t="961" b="951"/>
          <a:stretch/>
        </p:blipFill>
        <p:spPr>
          <a:xfrm>
            <a:off x="0" y="480215"/>
            <a:ext cx="3168900" cy="4663500"/>
          </a:xfrm>
          <a:prstGeom prst="round1Rect">
            <a:avLst>
              <a:gd name="adj" fmla="val 16667"/>
            </a:avLst>
          </a:prstGeom>
        </p:spPr>
      </p:pic>
      <p:sp>
        <p:nvSpPr>
          <p:cNvPr id="3" name="TextBox 2">
            <a:extLst>
              <a:ext uri="{FF2B5EF4-FFF2-40B4-BE49-F238E27FC236}">
                <a16:creationId xmlns:a16="http://schemas.microsoft.com/office/drawing/2014/main" id="{1E764562-44B5-35DD-7FD7-F51C787E6FDE}"/>
              </a:ext>
            </a:extLst>
          </p:cNvPr>
          <p:cNvSpPr txBox="1"/>
          <p:nvPr/>
        </p:nvSpPr>
        <p:spPr>
          <a:xfrm>
            <a:off x="3458919" y="3404477"/>
            <a:ext cx="4705813" cy="738664"/>
          </a:xfrm>
          <a:prstGeom prst="rect">
            <a:avLst/>
          </a:prstGeom>
          <a:noFill/>
        </p:spPr>
        <p:txBody>
          <a:bodyPr wrap="square" rtlCol="0">
            <a:spAutoFit/>
          </a:bodyPr>
          <a:lstStyle/>
          <a:p>
            <a:r>
              <a:rPr lang="en-US" dirty="0">
                <a:solidFill>
                  <a:schemeClr val="bg2"/>
                </a:solidFill>
                <a:latin typeface="Aptos" panose="020B0004020202020204" pitchFamily="34" charset="0"/>
              </a:rPr>
              <a:t>-&gt; PCA Projection</a:t>
            </a:r>
          </a:p>
          <a:p>
            <a:r>
              <a:rPr lang="en-US" dirty="0">
                <a:solidFill>
                  <a:schemeClr val="bg2"/>
                </a:solidFill>
                <a:latin typeface="Aptos" panose="020B0004020202020204" pitchFamily="34" charset="0"/>
              </a:rPr>
              <a:t>-&gt; Cluster Analysis</a:t>
            </a:r>
          </a:p>
          <a:p>
            <a:r>
              <a:rPr lang="en-US" dirty="0">
                <a:solidFill>
                  <a:schemeClr val="bg2"/>
                </a:solidFill>
                <a:latin typeface="Aptos" panose="020B0004020202020204" pitchFamily="34" charset="0"/>
              </a:rPr>
              <a:t>-&gt; Cluster Plotting</a:t>
            </a:r>
          </a:p>
        </p:txBody>
      </p:sp>
    </p:spTree>
    <p:extLst>
      <p:ext uri="{BB962C8B-B14F-4D97-AF65-F5344CB8AC3E}">
        <p14:creationId xmlns:p14="http://schemas.microsoft.com/office/powerpoint/2010/main" val="486589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D243C508-0F77-F372-1815-645ED6C41806}"/>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9E8C87A9-D631-DEF8-FC1D-5D069FA532D5}"/>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PCA Projection</a:t>
            </a:r>
            <a:endParaRPr i="1" dirty="0">
              <a:solidFill>
                <a:schemeClr val="tx1"/>
              </a:solidFill>
            </a:endParaRPr>
          </a:p>
        </p:txBody>
      </p:sp>
      <p:cxnSp>
        <p:nvCxnSpPr>
          <p:cNvPr id="7" name="Straight Connector 6">
            <a:extLst>
              <a:ext uri="{FF2B5EF4-FFF2-40B4-BE49-F238E27FC236}">
                <a16:creationId xmlns:a16="http://schemas.microsoft.com/office/drawing/2014/main" id="{CB6A2FF2-0FEB-8CBF-9F94-8BD946407993}"/>
              </a:ext>
            </a:extLst>
          </p:cNvPr>
          <p:cNvCxnSpPr>
            <a:cxnSpLocks/>
          </p:cNvCxnSpPr>
          <p:nvPr/>
        </p:nvCxnSpPr>
        <p:spPr>
          <a:xfrm>
            <a:off x="4804993" y="3300761"/>
            <a:ext cx="0" cy="1561170"/>
          </a:xfrm>
          <a:prstGeom prst="line">
            <a:avLst/>
          </a:prstGeom>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C07151AA-715E-B4F5-982A-F86335AB0328}"/>
              </a:ext>
            </a:extLst>
          </p:cNvPr>
          <p:cNvPicPr>
            <a:picLocks noChangeAspect="1"/>
          </p:cNvPicPr>
          <p:nvPr/>
        </p:nvPicPr>
        <p:blipFill>
          <a:blip r:embed="rId3"/>
          <a:stretch>
            <a:fillRect/>
          </a:stretch>
        </p:blipFill>
        <p:spPr>
          <a:xfrm>
            <a:off x="572428" y="1190332"/>
            <a:ext cx="8237035" cy="2028653"/>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CB402A8F-2FF5-F979-8D36-621F6A3B54A4}"/>
              </a:ext>
            </a:extLst>
          </p:cNvPr>
          <p:cNvSpPr txBox="1"/>
          <p:nvPr/>
        </p:nvSpPr>
        <p:spPr>
          <a:xfrm>
            <a:off x="888389" y="3218985"/>
            <a:ext cx="3531210" cy="1600438"/>
          </a:xfrm>
          <a:prstGeom prst="rect">
            <a:avLst/>
          </a:prstGeom>
          <a:noFill/>
        </p:spPr>
        <p:txBody>
          <a:bodyPr wrap="square" rtlCol="0">
            <a:spAutoFit/>
          </a:bodyPr>
          <a:lstStyle/>
          <a:p>
            <a:r>
              <a:rPr lang="en-US" b="1" dirty="0">
                <a:solidFill>
                  <a:schemeClr val="tx1"/>
                </a:solidFill>
                <a:latin typeface="Aptos" panose="020B0004020202020204" pitchFamily="34" charset="0"/>
              </a:rPr>
              <a:t>Before Applying Agglomerative (PCA)</a:t>
            </a:r>
          </a:p>
          <a:p>
            <a:endParaRPr lang="en-US" b="1" dirty="0">
              <a:solidFill>
                <a:schemeClr val="tx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No clear grouping observed; data appears scattered without visible cluster structure.</a:t>
            </a:r>
          </a:p>
          <a:p>
            <a:endParaRPr lang="en-US"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One distant outlier suggests a product with unusual sales or distribution behavior.</a:t>
            </a:r>
          </a:p>
        </p:txBody>
      </p:sp>
      <p:sp>
        <p:nvSpPr>
          <p:cNvPr id="9" name="TextBox 8">
            <a:extLst>
              <a:ext uri="{FF2B5EF4-FFF2-40B4-BE49-F238E27FC236}">
                <a16:creationId xmlns:a16="http://schemas.microsoft.com/office/drawing/2014/main" id="{F3DEE7CF-8EB6-4677-14A0-CE17B07A4160}"/>
              </a:ext>
            </a:extLst>
          </p:cNvPr>
          <p:cNvSpPr txBox="1"/>
          <p:nvPr/>
        </p:nvSpPr>
        <p:spPr>
          <a:xfrm>
            <a:off x="5040362" y="3218985"/>
            <a:ext cx="3531210" cy="1600438"/>
          </a:xfrm>
          <a:prstGeom prst="rect">
            <a:avLst/>
          </a:prstGeom>
          <a:noFill/>
        </p:spPr>
        <p:txBody>
          <a:bodyPr wrap="square" rtlCol="0">
            <a:spAutoFit/>
          </a:bodyPr>
          <a:lstStyle/>
          <a:p>
            <a:r>
              <a:rPr lang="en-US" b="1" dirty="0">
                <a:solidFill>
                  <a:schemeClr val="tx1"/>
                </a:solidFill>
                <a:latin typeface="Aptos" panose="020B0004020202020204" pitchFamily="34" charset="0"/>
              </a:rPr>
              <a:t>After Applying Agglomerative (PCA)</a:t>
            </a:r>
          </a:p>
          <a:p>
            <a:endParaRPr lang="en-US" b="1" dirty="0">
              <a:solidFill>
                <a:schemeClr val="tx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Three clear clusters formed, showing effective product differentiation by the model.</a:t>
            </a: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Outlier isolated into its own cluster, reflecting a distinct product profile.</a:t>
            </a:r>
          </a:p>
        </p:txBody>
      </p:sp>
    </p:spTree>
    <p:extLst>
      <p:ext uri="{BB962C8B-B14F-4D97-AF65-F5344CB8AC3E}">
        <p14:creationId xmlns:p14="http://schemas.microsoft.com/office/powerpoint/2010/main" val="3685283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A6A4A72-4CFA-97D1-7D27-3502DB34B094}"/>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1B2E31D6-3D34-E4A6-7C21-350035779F70}"/>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Cluster Analysis &amp; Labelling</a:t>
            </a:r>
            <a:endParaRPr i="1" dirty="0">
              <a:solidFill>
                <a:schemeClr val="tx1"/>
              </a:solidFill>
            </a:endParaRPr>
          </a:p>
        </p:txBody>
      </p:sp>
      <p:cxnSp>
        <p:nvCxnSpPr>
          <p:cNvPr id="7" name="Straight Connector 6">
            <a:extLst>
              <a:ext uri="{FF2B5EF4-FFF2-40B4-BE49-F238E27FC236}">
                <a16:creationId xmlns:a16="http://schemas.microsoft.com/office/drawing/2014/main" id="{0A66F099-91D9-4B35-6788-BAE2EBE1ACB0}"/>
              </a:ext>
            </a:extLst>
          </p:cNvPr>
          <p:cNvCxnSpPr>
            <a:cxnSpLocks/>
          </p:cNvCxnSpPr>
          <p:nvPr/>
        </p:nvCxnSpPr>
        <p:spPr>
          <a:xfrm>
            <a:off x="4634008" y="1486829"/>
            <a:ext cx="0" cy="2936488"/>
          </a:xfrm>
          <a:prstGeom prst="line">
            <a:avLst/>
          </a:prstGeom>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55558606-9288-39D7-189E-28FB64535C7B}"/>
              </a:ext>
            </a:extLst>
          </p:cNvPr>
          <p:cNvSpPr txBox="1"/>
          <p:nvPr/>
        </p:nvSpPr>
        <p:spPr>
          <a:xfrm>
            <a:off x="799179" y="1354635"/>
            <a:ext cx="3531210" cy="2893100"/>
          </a:xfrm>
          <a:prstGeom prst="rect">
            <a:avLst/>
          </a:prstGeom>
          <a:noFill/>
        </p:spPr>
        <p:txBody>
          <a:bodyPr wrap="square" rtlCol="0">
            <a:spAutoFit/>
          </a:bodyPr>
          <a:lstStyle/>
          <a:p>
            <a:r>
              <a:rPr lang="en-US" b="1" dirty="0">
                <a:solidFill>
                  <a:schemeClr val="tx1"/>
                </a:solidFill>
                <a:latin typeface="Aptos" panose="020B0004020202020204" pitchFamily="34" charset="0"/>
              </a:rPr>
              <a:t>Cluster Analysis</a:t>
            </a:r>
          </a:p>
          <a:p>
            <a:endParaRPr lang="en-US" b="1" dirty="0">
              <a:solidFill>
                <a:schemeClr val="tx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a:t>
            </a:r>
            <a:r>
              <a:rPr lang="en-US" b="1" i="1" dirty="0">
                <a:solidFill>
                  <a:schemeClr val="tx1"/>
                </a:solidFill>
                <a:latin typeface="Aptos" panose="020B0004020202020204" pitchFamily="34" charset="0"/>
              </a:rPr>
              <a:t>Cluster 0</a:t>
            </a:r>
            <a:r>
              <a:rPr lang="en-US" dirty="0">
                <a:solidFill>
                  <a:schemeClr val="bg1"/>
                </a:solidFill>
                <a:latin typeface="Aptos" panose="020B0004020202020204" pitchFamily="34" charset="0"/>
              </a:rPr>
              <a:t>: Majority of products; average sales and transfers.</a:t>
            </a:r>
          </a:p>
          <a:p>
            <a:endParaRPr lang="en-US"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a:t>
            </a:r>
            <a:r>
              <a:rPr lang="en-US" b="1" i="1" dirty="0">
                <a:solidFill>
                  <a:schemeClr val="tx1"/>
                </a:solidFill>
                <a:latin typeface="Aptos" panose="020B0004020202020204" pitchFamily="34" charset="0"/>
              </a:rPr>
              <a:t>Cluster 1</a:t>
            </a:r>
            <a:r>
              <a:rPr lang="en-US" dirty="0">
                <a:solidFill>
                  <a:schemeClr val="bg1"/>
                </a:solidFill>
                <a:latin typeface="Aptos" panose="020B0004020202020204" pitchFamily="34" charset="0"/>
              </a:rPr>
              <a:t>: Single, high-performing product with very high sales.</a:t>
            </a:r>
          </a:p>
          <a:p>
            <a:endParaRPr lang="en-US"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a:t>
            </a:r>
            <a:r>
              <a:rPr lang="en-US" b="1" i="1" dirty="0">
                <a:solidFill>
                  <a:schemeClr val="tx1"/>
                </a:solidFill>
                <a:latin typeface="Aptos" panose="020B0004020202020204" pitchFamily="34" charset="0"/>
              </a:rPr>
              <a:t>Cluster 2</a:t>
            </a:r>
            <a:r>
              <a:rPr lang="en-US" dirty="0">
                <a:solidFill>
                  <a:schemeClr val="bg1"/>
                </a:solidFill>
                <a:latin typeface="Aptos" panose="020B0004020202020204" pitchFamily="34" charset="0"/>
              </a:rPr>
              <a:t>: Retail-focused products with lower warehouse sales.</a:t>
            </a:r>
          </a:p>
          <a:p>
            <a:endParaRPr lang="en-US" dirty="0">
              <a:solidFill>
                <a:schemeClr val="bg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Clustering clearly separates low, average, and high-performing product types.</a:t>
            </a:r>
          </a:p>
        </p:txBody>
      </p:sp>
      <p:sp>
        <p:nvSpPr>
          <p:cNvPr id="9" name="TextBox 8">
            <a:extLst>
              <a:ext uri="{FF2B5EF4-FFF2-40B4-BE49-F238E27FC236}">
                <a16:creationId xmlns:a16="http://schemas.microsoft.com/office/drawing/2014/main" id="{D065058E-CC6F-C682-00FF-FD06B7E8720E}"/>
              </a:ext>
            </a:extLst>
          </p:cNvPr>
          <p:cNvSpPr txBox="1"/>
          <p:nvPr/>
        </p:nvSpPr>
        <p:spPr>
          <a:xfrm>
            <a:off x="4813611" y="1354635"/>
            <a:ext cx="3531210" cy="2677656"/>
          </a:xfrm>
          <a:prstGeom prst="rect">
            <a:avLst/>
          </a:prstGeom>
          <a:noFill/>
        </p:spPr>
        <p:txBody>
          <a:bodyPr wrap="square" rtlCol="0">
            <a:spAutoFit/>
          </a:bodyPr>
          <a:lstStyle/>
          <a:p>
            <a:r>
              <a:rPr lang="en-US" b="1" dirty="0">
                <a:solidFill>
                  <a:schemeClr val="tx1"/>
                </a:solidFill>
                <a:latin typeface="Aptos" panose="020B0004020202020204" pitchFamily="34" charset="0"/>
              </a:rPr>
              <a:t>Cluster Labelling</a:t>
            </a:r>
          </a:p>
          <a:p>
            <a:endParaRPr lang="en-US" b="1" dirty="0">
              <a:solidFill>
                <a:schemeClr val="tx1"/>
              </a:solidFill>
              <a:latin typeface="Aptos" panose="020B0004020202020204" pitchFamily="34" charset="0"/>
            </a:endParaRPr>
          </a:p>
          <a:p>
            <a:r>
              <a:rPr lang="en-US" b="1" dirty="0">
                <a:solidFill>
                  <a:schemeClr val="tx1"/>
                </a:solidFill>
                <a:latin typeface="Aptos" panose="020B0004020202020204" pitchFamily="34" charset="0"/>
              </a:rPr>
              <a:t>-</a:t>
            </a:r>
            <a:r>
              <a:rPr lang="en-US" dirty="0">
                <a:solidFill>
                  <a:schemeClr val="tx1"/>
                </a:solidFill>
                <a:latin typeface="Aptos" panose="020B0004020202020204" pitchFamily="34" charset="0"/>
              </a:rPr>
              <a:t> Cluster 0 </a:t>
            </a:r>
            <a:r>
              <a:rPr lang="en-US" dirty="0">
                <a:solidFill>
                  <a:schemeClr val="bg1"/>
                </a:solidFill>
                <a:latin typeface="Aptos" panose="020B0004020202020204" pitchFamily="34" charset="0"/>
              </a:rPr>
              <a:t>– DUNNAGE: Low-volume, support products with moderate sales.</a:t>
            </a:r>
          </a:p>
          <a:p>
            <a:endParaRPr lang="en-US" dirty="0">
              <a:solidFill>
                <a:schemeClr val="bg1"/>
              </a:solidFill>
              <a:latin typeface="Aptos" panose="020B0004020202020204" pitchFamily="34" charset="0"/>
            </a:endParaRPr>
          </a:p>
          <a:p>
            <a:r>
              <a:rPr lang="en-US" b="1" dirty="0">
                <a:solidFill>
                  <a:schemeClr val="tx1"/>
                </a:solidFill>
                <a:latin typeface="Aptos" panose="020B0004020202020204" pitchFamily="34" charset="0"/>
              </a:rPr>
              <a:t>-</a:t>
            </a:r>
            <a:r>
              <a:rPr lang="en-US" dirty="0">
                <a:solidFill>
                  <a:schemeClr val="tx1"/>
                </a:solidFill>
                <a:latin typeface="Aptos" panose="020B0004020202020204" pitchFamily="34" charset="0"/>
              </a:rPr>
              <a:t> Cluster 1</a:t>
            </a:r>
            <a:r>
              <a:rPr lang="en-US" dirty="0">
                <a:solidFill>
                  <a:schemeClr val="bg1"/>
                </a:solidFill>
                <a:latin typeface="Aptos" panose="020B0004020202020204" pitchFamily="34" charset="0"/>
              </a:rPr>
              <a:t> – BEER: Highest-performing product with strong sales across all channels.</a:t>
            </a:r>
          </a:p>
          <a:p>
            <a:endParaRPr lang="en-US" dirty="0">
              <a:solidFill>
                <a:schemeClr val="bg1"/>
              </a:solidFill>
              <a:latin typeface="Aptos" panose="020B0004020202020204" pitchFamily="34" charset="0"/>
            </a:endParaRPr>
          </a:p>
          <a:p>
            <a:r>
              <a:rPr lang="en-US" b="1" dirty="0">
                <a:solidFill>
                  <a:schemeClr val="tx1"/>
                </a:solidFill>
                <a:latin typeface="Aptos" panose="020B0004020202020204" pitchFamily="34" charset="0"/>
              </a:rPr>
              <a:t>-</a:t>
            </a:r>
            <a:r>
              <a:rPr lang="en-US" dirty="0">
                <a:solidFill>
                  <a:schemeClr val="tx1"/>
                </a:solidFill>
                <a:latin typeface="Aptos" panose="020B0004020202020204" pitchFamily="34" charset="0"/>
              </a:rPr>
              <a:t> Cluster 2</a:t>
            </a:r>
            <a:r>
              <a:rPr lang="en-US" dirty="0">
                <a:solidFill>
                  <a:schemeClr val="bg1"/>
                </a:solidFill>
                <a:latin typeface="Aptos" panose="020B0004020202020204" pitchFamily="34" charset="0"/>
              </a:rPr>
              <a:t> – LIQUOR: Mid-range products with balanced sales, lower warehouse distribution.</a:t>
            </a:r>
          </a:p>
        </p:txBody>
      </p:sp>
    </p:spTree>
    <p:extLst>
      <p:ext uri="{BB962C8B-B14F-4D97-AF65-F5344CB8AC3E}">
        <p14:creationId xmlns:p14="http://schemas.microsoft.com/office/powerpoint/2010/main" val="639902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DFF53655-A601-7398-5361-9BC172984C38}"/>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2E8611B7-8C63-A6BC-7A41-98DE0560ECD2}"/>
              </a:ext>
            </a:extLst>
          </p:cNvPr>
          <p:cNvSpPr txBox="1">
            <a:spLocks noGrp="1"/>
          </p:cNvSpPr>
          <p:nvPr>
            <p:ph type="title"/>
          </p:nvPr>
        </p:nvSpPr>
        <p:spPr>
          <a:xfrm>
            <a:off x="715100" y="535000"/>
            <a:ext cx="7704000" cy="5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i="1" dirty="0">
                <a:solidFill>
                  <a:schemeClr val="tx1"/>
                </a:solidFill>
              </a:rPr>
              <a:t>Cluster Plotting</a:t>
            </a:r>
            <a:endParaRPr i="1" dirty="0">
              <a:solidFill>
                <a:schemeClr val="tx1"/>
              </a:solidFill>
            </a:endParaRPr>
          </a:p>
        </p:txBody>
      </p:sp>
      <p:cxnSp>
        <p:nvCxnSpPr>
          <p:cNvPr id="7" name="Straight Connector 6">
            <a:extLst>
              <a:ext uri="{FF2B5EF4-FFF2-40B4-BE49-F238E27FC236}">
                <a16:creationId xmlns:a16="http://schemas.microsoft.com/office/drawing/2014/main" id="{36520424-2623-A2B3-8F37-FF4FAC8342AF}"/>
              </a:ext>
            </a:extLst>
          </p:cNvPr>
          <p:cNvCxnSpPr>
            <a:cxnSpLocks/>
          </p:cNvCxnSpPr>
          <p:nvPr/>
        </p:nvCxnSpPr>
        <p:spPr>
          <a:xfrm>
            <a:off x="4634008" y="1486829"/>
            <a:ext cx="0" cy="3100411"/>
          </a:xfrm>
          <a:prstGeom prst="line">
            <a:avLst/>
          </a:prstGeom>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F5F8EFDC-F881-7E90-0CF3-56D0D90458C0}"/>
              </a:ext>
            </a:extLst>
          </p:cNvPr>
          <p:cNvSpPr txBox="1"/>
          <p:nvPr/>
        </p:nvSpPr>
        <p:spPr>
          <a:xfrm>
            <a:off x="799179" y="1354635"/>
            <a:ext cx="3531210" cy="2893100"/>
          </a:xfrm>
          <a:prstGeom prst="rect">
            <a:avLst/>
          </a:prstGeom>
          <a:noFill/>
        </p:spPr>
        <p:txBody>
          <a:bodyPr wrap="square" rtlCol="0">
            <a:spAutoFit/>
          </a:bodyPr>
          <a:lstStyle/>
          <a:p>
            <a:r>
              <a:rPr lang="en-US" b="1" dirty="0">
                <a:solidFill>
                  <a:schemeClr val="tx1"/>
                </a:solidFill>
                <a:latin typeface="Aptos" panose="020B0004020202020204" pitchFamily="34" charset="0"/>
              </a:rPr>
              <a:t>Cluster Wise Sales Distribution</a:t>
            </a:r>
          </a:p>
          <a:p>
            <a:endParaRPr lang="en-US" b="1" dirty="0">
              <a:solidFill>
                <a:schemeClr val="tx1"/>
              </a:solidFill>
              <a:latin typeface="Aptos" panose="020B0004020202020204" pitchFamily="34" charset="0"/>
            </a:endParaRPr>
          </a:p>
          <a:p>
            <a:r>
              <a:rPr lang="en-US" b="1" dirty="0">
                <a:solidFill>
                  <a:schemeClr val="bg1"/>
                </a:solidFill>
                <a:latin typeface="Aptos" panose="020B0004020202020204" pitchFamily="34" charset="0"/>
              </a:rPr>
              <a:t>-</a:t>
            </a:r>
            <a:r>
              <a:rPr lang="en-US" dirty="0">
                <a:solidFill>
                  <a:schemeClr val="bg1"/>
                </a:solidFill>
                <a:latin typeface="Aptos" panose="020B0004020202020204" pitchFamily="34" charset="0"/>
              </a:rPr>
              <a:t> </a:t>
            </a:r>
            <a:r>
              <a:rPr lang="en-US" b="1" i="1" dirty="0">
                <a:solidFill>
                  <a:schemeClr val="tx1"/>
                </a:solidFill>
                <a:latin typeface="Aptos" panose="020B0004020202020204" pitchFamily="34" charset="0"/>
              </a:rPr>
              <a:t>Cluster 1 (BEER):</a:t>
            </a:r>
            <a:r>
              <a:rPr lang="en-US" i="1" dirty="0">
                <a:solidFill>
                  <a:schemeClr val="tx1"/>
                </a:solidFill>
                <a:latin typeface="Aptos" panose="020B0004020202020204" pitchFamily="34" charset="0"/>
              </a:rPr>
              <a:t> </a:t>
            </a:r>
            <a:r>
              <a:rPr lang="en-US" dirty="0">
                <a:solidFill>
                  <a:schemeClr val="bg1"/>
                </a:solidFill>
                <a:latin typeface="Aptos" panose="020B0004020202020204" pitchFamily="34" charset="0"/>
              </a:rPr>
              <a:t>Dominates sales, driven by high Warehouse Sales.</a:t>
            </a:r>
          </a:p>
          <a:p>
            <a:endParaRPr lang="en-US" i="1" dirty="0">
              <a:solidFill>
                <a:schemeClr val="tx1"/>
              </a:solidFill>
              <a:latin typeface="Aptos" panose="020B0004020202020204" pitchFamily="34" charset="0"/>
            </a:endParaRPr>
          </a:p>
          <a:p>
            <a:r>
              <a:rPr lang="en-US" b="1" i="1" dirty="0">
                <a:solidFill>
                  <a:schemeClr val="tx1"/>
                </a:solidFill>
                <a:latin typeface="Aptos" panose="020B0004020202020204" pitchFamily="34" charset="0"/>
              </a:rPr>
              <a:t>-</a:t>
            </a:r>
            <a:r>
              <a:rPr lang="en-US" i="1" dirty="0">
                <a:solidFill>
                  <a:schemeClr val="tx1"/>
                </a:solidFill>
                <a:latin typeface="Aptos" panose="020B0004020202020204" pitchFamily="34" charset="0"/>
              </a:rPr>
              <a:t> </a:t>
            </a:r>
            <a:r>
              <a:rPr lang="en-US" b="1" i="1" dirty="0">
                <a:solidFill>
                  <a:schemeClr val="tx1"/>
                </a:solidFill>
                <a:latin typeface="Aptos" panose="020B0004020202020204" pitchFamily="34" charset="0"/>
              </a:rPr>
              <a:t>Cluster 2 (LIQUOR):</a:t>
            </a:r>
            <a:r>
              <a:rPr lang="en-US" i="1" dirty="0">
                <a:solidFill>
                  <a:schemeClr val="tx1"/>
                </a:solidFill>
                <a:latin typeface="Aptos" panose="020B0004020202020204" pitchFamily="34" charset="0"/>
              </a:rPr>
              <a:t> </a:t>
            </a:r>
            <a:r>
              <a:rPr lang="en-US" dirty="0">
                <a:solidFill>
                  <a:schemeClr val="bg1"/>
                </a:solidFill>
                <a:latin typeface="Aptos" panose="020B0004020202020204" pitchFamily="34" charset="0"/>
              </a:rPr>
              <a:t>Balanced sales across Retail and Warehouse channels</a:t>
            </a:r>
            <a:r>
              <a:rPr lang="en-US" i="1" dirty="0">
                <a:solidFill>
                  <a:schemeClr val="tx1"/>
                </a:solidFill>
                <a:latin typeface="Aptos" panose="020B0004020202020204" pitchFamily="34" charset="0"/>
              </a:rPr>
              <a:t>.</a:t>
            </a:r>
          </a:p>
          <a:p>
            <a:endParaRPr lang="en-US" i="1" dirty="0">
              <a:solidFill>
                <a:schemeClr val="tx1"/>
              </a:solidFill>
              <a:latin typeface="Aptos" panose="020B0004020202020204" pitchFamily="34" charset="0"/>
            </a:endParaRPr>
          </a:p>
          <a:p>
            <a:r>
              <a:rPr lang="en-US" b="1" i="1" dirty="0">
                <a:solidFill>
                  <a:schemeClr val="tx1"/>
                </a:solidFill>
                <a:latin typeface="Aptos" panose="020B0004020202020204" pitchFamily="34" charset="0"/>
              </a:rPr>
              <a:t>- Cluster 0 (DUNNAGE):</a:t>
            </a:r>
            <a:r>
              <a:rPr lang="en-US" i="1" dirty="0">
                <a:solidFill>
                  <a:schemeClr val="tx1"/>
                </a:solidFill>
                <a:latin typeface="Aptos" panose="020B0004020202020204" pitchFamily="34" charset="0"/>
              </a:rPr>
              <a:t> </a:t>
            </a:r>
            <a:r>
              <a:rPr lang="en-US" dirty="0">
                <a:solidFill>
                  <a:schemeClr val="bg1"/>
                </a:solidFill>
                <a:latin typeface="Aptos" panose="020B0004020202020204" pitchFamily="34" charset="0"/>
              </a:rPr>
              <a:t>Low sales overall, slightly more warehouse-dependent.</a:t>
            </a:r>
          </a:p>
          <a:p>
            <a:endParaRPr lang="en-US" i="1" dirty="0">
              <a:solidFill>
                <a:schemeClr val="tx1"/>
              </a:solidFill>
              <a:latin typeface="Aptos" panose="020B0004020202020204" pitchFamily="34" charset="0"/>
            </a:endParaRPr>
          </a:p>
          <a:p>
            <a:r>
              <a:rPr lang="en-US" dirty="0">
                <a:solidFill>
                  <a:schemeClr val="bg1"/>
                </a:solidFill>
                <a:latin typeface="Aptos" panose="020B0004020202020204" pitchFamily="34" charset="0"/>
              </a:rPr>
              <a:t>Sales patterns confirm clear role-based product segmentation through clustering</a:t>
            </a:r>
          </a:p>
        </p:txBody>
      </p:sp>
      <p:pic>
        <p:nvPicPr>
          <p:cNvPr id="3" name="Picture 2">
            <a:extLst>
              <a:ext uri="{FF2B5EF4-FFF2-40B4-BE49-F238E27FC236}">
                <a16:creationId xmlns:a16="http://schemas.microsoft.com/office/drawing/2014/main" id="{67981D76-F22A-13B7-CC5D-D82CB03CE1A8}"/>
              </a:ext>
            </a:extLst>
          </p:cNvPr>
          <p:cNvPicPr>
            <a:picLocks noChangeAspect="1"/>
          </p:cNvPicPr>
          <p:nvPr/>
        </p:nvPicPr>
        <p:blipFill>
          <a:blip r:embed="rId3"/>
          <a:stretch>
            <a:fillRect/>
          </a:stretch>
        </p:blipFill>
        <p:spPr>
          <a:xfrm>
            <a:off x="4813613" y="1313692"/>
            <a:ext cx="4162745" cy="34792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04056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D621D3AC-0258-C3F3-6F2D-C1435D83B114}"/>
            </a:ext>
          </a:extLst>
        </p:cNvPr>
        <p:cNvGrpSpPr/>
        <p:nvPr/>
      </p:nvGrpSpPr>
      <p:grpSpPr>
        <a:xfrm>
          <a:off x="0" y="0"/>
          <a:ext cx="0" cy="0"/>
          <a:chOff x="0" y="0"/>
          <a:chExt cx="0" cy="0"/>
        </a:xfrm>
      </p:grpSpPr>
      <p:sp>
        <p:nvSpPr>
          <p:cNvPr id="255" name="Google Shape;255;p39">
            <a:extLst>
              <a:ext uri="{FF2B5EF4-FFF2-40B4-BE49-F238E27FC236}">
                <a16:creationId xmlns:a16="http://schemas.microsoft.com/office/drawing/2014/main" id="{D1FA3552-CAE5-9AE5-6A5F-0D9B0718C62D}"/>
              </a:ext>
            </a:extLst>
          </p:cNvPr>
          <p:cNvSpPr txBox="1">
            <a:spLocks noGrp="1"/>
          </p:cNvSpPr>
          <p:nvPr>
            <p:ph type="title"/>
          </p:nvPr>
        </p:nvSpPr>
        <p:spPr>
          <a:xfrm>
            <a:off x="-1477412" y="1955330"/>
            <a:ext cx="7657232" cy="123284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b="1" i="1" dirty="0">
                <a:solidFill>
                  <a:schemeClr val="tx1"/>
                </a:solidFill>
                <a:latin typeface="+mj-lt"/>
              </a:rPr>
              <a:t>Thank  You!</a:t>
            </a:r>
            <a:endParaRPr b="1" i="1" dirty="0">
              <a:solidFill>
                <a:schemeClr val="tx1"/>
              </a:solidFill>
              <a:latin typeface="+mj-lt"/>
            </a:endParaRPr>
          </a:p>
        </p:txBody>
      </p:sp>
      <p:cxnSp>
        <p:nvCxnSpPr>
          <p:cNvPr id="7" name="Straight Connector 6">
            <a:extLst>
              <a:ext uri="{FF2B5EF4-FFF2-40B4-BE49-F238E27FC236}">
                <a16:creationId xmlns:a16="http://schemas.microsoft.com/office/drawing/2014/main" id="{B6130D04-13B7-692E-7B62-0AF04AFEFF37}"/>
              </a:ext>
            </a:extLst>
          </p:cNvPr>
          <p:cNvCxnSpPr>
            <a:cxnSpLocks/>
          </p:cNvCxnSpPr>
          <p:nvPr/>
        </p:nvCxnSpPr>
        <p:spPr>
          <a:xfrm>
            <a:off x="6489912" y="4755809"/>
            <a:ext cx="2455968" cy="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3BC969A3-AECA-1098-9093-B4E511410989}"/>
              </a:ext>
            </a:extLst>
          </p:cNvPr>
          <p:cNvSpPr txBox="1"/>
          <p:nvPr/>
        </p:nvSpPr>
        <p:spPr>
          <a:xfrm>
            <a:off x="6438900" y="4351020"/>
            <a:ext cx="2339340" cy="307777"/>
          </a:xfrm>
          <a:prstGeom prst="rect">
            <a:avLst/>
          </a:prstGeom>
          <a:noFill/>
        </p:spPr>
        <p:txBody>
          <a:bodyPr wrap="square" rtlCol="0">
            <a:spAutoFit/>
          </a:bodyPr>
          <a:lstStyle/>
          <a:p>
            <a:r>
              <a:rPr lang="en-US" b="1" dirty="0">
                <a:solidFill>
                  <a:schemeClr val="tx1"/>
                </a:solidFill>
              </a:rPr>
              <a:t>By: </a:t>
            </a:r>
            <a:r>
              <a:rPr lang="en-US" i="1" dirty="0">
                <a:solidFill>
                  <a:schemeClr val="tx1"/>
                </a:solidFill>
              </a:rPr>
              <a:t>Rajnish Kashyap</a:t>
            </a:r>
            <a:endParaRPr lang="en-IN" i="1" dirty="0">
              <a:solidFill>
                <a:schemeClr val="tx1"/>
              </a:solidFill>
            </a:endParaRPr>
          </a:p>
        </p:txBody>
      </p:sp>
    </p:spTree>
    <p:extLst>
      <p:ext uri="{BB962C8B-B14F-4D97-AF65-F5344CB8AC3E}">
        <p14:creationId xmlns:p14="http://schemas.microsoft.com/office/powerpoint/2010/main" val="3576689408"/>
      </p:ext>
    </p:extLst>
  </p:cSld>
  <p:clrMapOvr>
    <a:masterClrMapping/>
  </p:clrMapOvr>
</p:sld>
</file>

<file path=ppt/theme/theme1.xml><?xml version="1.0" encoding="utf-8"?>
<a:theme xmlns:a="http://schemas.openxmlformats.org/drawingml/2006/main" name="Alcohol Abuse Prevention Newsletter by Slidesgo">
  <a:themeElements>
    <a:clrScheme name="Simple Light">
      <a:dk1>
        <a:srgbClr val="630316"/>
      </a:dk1>
      <a:lt1>
        <a:srgbClr val="000000"/>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1549</Words>
  <Application>Microsoft Office PowerPoint</Application>
  <PresentationFormat>On-screen Show (16:9)</PresentationFormat>
  <Paragraphs>236</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Playfair Display SemiBold</vt:lpstr>
      <vt:lpstr>Aptos</vt:lpstr>
      <vt:lpstr>Playfair Display Medium</vt:lpstr>
      <vt:lpstr>Roboto Medium</vt:lpstr>
      <vt:lpstr>Roboto</vt:lpstr>
      <vt:lpstr>Arial</vt:lpstr>
      <vt:lpstr>Alcohol Abuse Prevention Newsletter by Slidesgo</vt:lpstr>
      <vt:lpstr>Product Cluster Analysis</vt:lpstr>
      <vt:lpstr>Table of Contents</vt:lpstr>
      <vt:lpstr>Introduction</vt:lpstr>
      <vt:lpstr>Problem &amp; Objective</vt:lpstr>
      <vt:lpstr>Dataset Overview</vt:lpstr>
      <vt:lpstr>EDA &amp; Data Wrangling</vt:lpstr>
      <vt:lpstr>Handling Missing Values</vt:lpstr>
      <vt:lpstr>Outlier Analysis</vt:lpstr>
      <vt:lpstr>Data Visualization #1</vt:lpstr>
      <vt:lpstr>Data Visualization #2</vt:lpstr>
      <vt:lpstr>Data Visualization #3</vt:lpstr>
      <vt:lpstr>Data Visualization #4</vt:lpstr>
      <vt:lpstr>Feature Engineering</vt:lpstr>
      <vt:lpstr>Feature Engineering</vt:lpstr>
      <vt:lpstr>Scaling &amp; Model Building</vt:lpstr>
      <vt:lpstr>Standard Scaling</vt:lpstr>
      <vt:lpstr>Determining Optimal K</vt:lpstr>
      <vt:lpstr>Model Building &amp; Evaluation</vt:lpstr>
      <vt:lpstr>Evaluation Plotting</vt:lpstr>
      <vt:lpstr>Cluster Projection</vt:lpstr>
      <vt:lpstr>PCA Projection</vt:lpstr>
      <vt:lpstr>Cluster Analysis &amp; Labelling</vt:lpstr>
      <vt:lpstr>Cluster Plotting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Mukshita</dc:creator>
  <cp:lastModifiedBy>Rajnish Kashyap</cp:lastModifiedBy>
  <cp:revision>2</cp:revision>
  <dcterms:modified xsi:type="dcterms:W3CDTF">2025-07-17T22:56:16Z</dcterms:modified>
</cp:coreProperties>
</file>